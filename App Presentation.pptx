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2"/>
  </p:notesMasterIdLst>
  <p:sldIdLst>
    <p:sldId id="256" r:id="rId2"/>
    <p:sldId id="264" r:id="rId3"/>
    <p:sldId id="258" r:id="rId4"/>
    <p:sldId id="259" r:id="rId5"/>
    <p:sldId id="260" r:id="rId6"/>
    <p:sldId id="265" r:id="rId7"/>
    <p:sldId id="262" r:id="rId8"/>
    <p:sldId id="263" r:id="rId9"/>
    <p:sldId id="266" r:id="rId10"/>
    <p:sldId id="267"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523"/>
    <p:restoredTop sz="84044"/>
  </p:normalViewPr>
  <p:slideViewPr>
    <p:cSldViewPr snapToGrid="0">
      <p:cViewPr varScale="1">
        <p:scale>
          <a:sx n="112" d="100"/>
          <a:sy n="112" d="100"/>
        </p:scale>
        <p:origin x="768" y="2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76D4C93-305D-574E-8C4F-13D1DF5783C8}" type="datetimeFigureOut">
              <a:rPr lang="en-US" smtClean="0"/>
              <a:t>10/15/25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3A2505E-7E22-F146-AFE1-BE3F982D5DB9}" type="slidenum">
              <a:rPr lang="en-US" smtClean="0"/>
              <a:t>‹#›</a:t>
            </a:fld>
            <a:endParaRPr lang="en-US"/>
          </a:p>
        </p:txBody>
      </p:sp>
    </p:spTree>
    <p:extLst>
      <p:ext uri="{BB962C8B-B14F-4D97-AF65-F5344CB8AC3E}">
        <p14:creationId xmlns:p14="http://schemas.microsoft.com/office/powerpoint/2010/main" val="34114998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mn-lt"/>
                <a:ea typeface="+mn-ea"/>
                <a:cs typeface="+mn-cs"/>
              </a:rPr>
              <a:t>Below is how every request flows through your </a:t>
            </a:r>
            <a:r>
              <a:rPr lang="en-GB" sz="1200" kern="1200" dirty="0" err="1">
                <a:solidFill>
                  <a:schemeClr val="tx1"/>
                </a:solidFill>
                <a:effectLst/>
                <a:latin typeface="+mn-lt"/>
                <a:ea typeface="+mn-ea"/>
                <a:cs typeface="+mn-cs"/>
              </a:rPr>
              <a:t>DonationsTracker</a:t>
            </a:r>
            <a:r>
              <a:rPr lang="en-GB" sz="1200" kern="1200" dirty="0">
                <a:solidFill>
                  <a:schemeClr val="tx1"/>
                </a:solidFill>
                <a:effectLst/>
                <a:latin typeface="+mn-lt"/>
                <a:ea typeface="+mn-ea"/>
                <a:cs typeface="+mn-cs"/>
              </a:rPr>
              <a:t> API from a </a:t>
            </a:r>
            <a:r>
              <a:rPr lang="en-GB" sz="1200" b="1" kern="1200" dirty="0">
                <a:solidFill>
                  <a:schemeClr val="tx1"/>
                </a:solidFill>
                <a:effectLst/>
                <a:latin typeface="+mn-lt"/>
                <a:ea typeface="+mn-ea"/>
                <a:cs typeface="+mn-cs"/>
              </a:rPr>
              <a:t>security point of view</a:t>
            </a:r>
            <a:r>
              <a:rPr lang="en-GB" sz="1200" kern="1200" dirty="0">
                <a:solidFill>
                  <a:schemeClr val="tx1"/>
                </a:solidFill>
                <a:effectLst/>
                <a:latin typeface="+mn-lt"/>
                <a:ea typeface="+mn-ea"/>
                <a:cs typeface="+mn-cs"/>
              </a:rPr>
              <a:t>, based on your current architecture (ASP.NET Core 8 + N-tier pattern + middleware stack + </a:t>
            </a:r>
            <a:r>
              <a:rPr lang="en-GB" sz="1200" kern="1200" dirty="0" err="1">
                <a:solidFill>
                  <a:schemeClr val="tx1"/>
                </a:solidFill>
                <a:effectLst/>
                <a:latin typeface="+mn-lt"/>
                <a:ea typeface="+mn-ea"/>
                <a:cs typeface="+mn-cs"/>
              </a:rPr>
              <a:t>BotDetectionService</a:t>
            </a:r>
            <a:r>
              <a:rPr lang="en-GB" sz="1200" kern="1200" dirty="0">
                <a:solidFill>
                  <a:schemeClr val="tx1"/>
                </a:solidFill>
                <a:effectLst/>
                <a:latin typeface="+mn-lt"/>
                <a:ea typeface="+mn-ea"/>
                <a:cs typeface="+mn-cs"/>
              </a:rPr>
              <a:t> + validation + JWT):</a:t>
            </a:r>
          </a:p>
          <a:p>
            <a:r>
              <a:rPr lang="en-GB" sz="1200" kern="1200" dirty="0">
                <a:solidFill>
                  <a:schemeClr val="tx1"/>
                </a:solidFill>
                <a:effectLst/>
                <a:latin typeface="+mn-lt"/>
                <a:ea typeface="+mn-ea"/>
                <a:cs typeface="+mn-cs"/>
              </a:rPr>
              <a:t>┌──────────────────────────────────────────────────────────────┐</a:t>
            </a:r>
          </a:p>
          <a:p>
            <a:r>
              <a:rPr lang="en-GB" sz="1200" kern="1200" dirty="0">
                <a:solidFill>
                  <a:schemeClr val="tx1"/>
                </a:solidFill>
                <a:effectLst/>
                <a:latin typeface="+mn-lt"/>
                <a:ea typeface="+mn-ea"/>
                <a:cs typeface="+mn-cs"/>
              </a:rPr>
              <a:t>│                    Client / Request Origin                   │</a:t>
            </a:r>
          </a:p>
          <a:p>
            <a:r>
              <a:rPr lang="en-GB" sz="1200" kern="1200" dirty="0">
                <a:solidFill>
                  <a:schemeClr val="tx1"/>
                </a:solidFill>
                <a:effectLst/>
                <a:latin typeface="+mn-lt"/>
                <a:ea typeface="+mn-ea"/>
                <a:cs typeface="+mn-cs"/>
              </a:rPr>
              <a:t>│  └──&gt; (Browser / Mobile / API Client / Bot / Test Runner)     │</a:t>
            </a:r>
          </a:p>
          <a:p>
            <a:r>
              <a:rPr lang="en-GB" sz="1200" kern="1200" dirty="0">
                <a:solidFill>
                  <a:schemeClr val="tx1"/>
                </a:solidFill>
                <a:effectLst/>
                <a:latin typeface="+mn-lt"/>
                <a:ea typeface="+mn-ea"/>
                <a:cs typeface="+mn-cs"/>
              </a:rPr>
              <a:t>└──────────────────────────────────────────────────────────────┘</a:t>
            </a:r>
          </a:p>
          <a:p>
            <a:r>
              <a:rPr lang="en-GB" sz="1200" kern="1200" dirty="0">
                <a:solidFill>
                  <a:schemeClr val="tx1"/>
                </a:solidFill>
                <a:effectLst/>
                <a:latin typeface="+mn-lt"/>
                <a:ea typeface="+mn-ea"/>
                <a:cs typeface="+mn-cs"/>
              </a:rPr>
              <a:t>               │</a:t>
            </a:r>
          </a:p>
          <a:p>
            <a:r>
              <a:rPr lang="en-GB" sz="1200" kern="1200" dirty="0">
                <a:solidFill>
                  <a:schemeClr val="tx1"/>
                </a:solidFill>
                <a:effectLst/>
                <a:latin typeface="+mn-lt"/>
                <a:ea typeface="+mn-ea"/>
                <a:cs typeface="+mn-cs"/>
              </a:rPr>
              <a:t>               ▼</a:t>
            </a:r>
          </a:p>
          <a:p>
            <a:r>
              <a:rPr lang="en-GB" sz="1200" kern="1200" dirty="0">
                <a:solidFill>
                  <a:schemeClr val="tx1"/>
                </a:solidFill>
                <a:effectLst/>
                <a:latin typeface="+mn-lt"/>
                <a:ea typeface="+mn-ea"/>
                <a:cs typeface="+mn-cs"/>
              </a:rPr>
              <a:t>┌──────────────────────────────────────────────────────────────┐</a:t>
            </a:r>
          </a:p>
          <a:p>
            <a:r>
              <a:rPr lang="en-GB" sz="1200" kern="1200" dirty="0">
                <a:solidFill>
                  <a:schemeClr val="tx1"/>
                </a:solidFill>
                <a:effectLst/>
                <a:latin typeface="+mn-lt"/>
                <a:ea typeface="+mn-ea"/>
                <a:cs typeface="+mn-cs"/>
              </a:rPr>
              <a:t>│ 1️⃣  ASP.NET Core Middleware Pipeline                         │</a:t>
            </a:r>
          </a:p>
          <a:p>
            <a:r>
              <a:rPr lang="en-GB" sz="1200" kern="1200" dirty="0">
                <a:solidFill>
                  <a:schemeClr val="tx1"/>
                </a:solidFill>
                <a:effectLst/>
                <a:latin typeface="+mn-lt"/>
                <a:ea typeface="+mn-ea"/>
                <a:cs typeface="+mn-cs"/>
              </a:rPr>
              <a:t>│     - HTTPS redirection                                       │</a:t>
            </a:r>
          </a:p>
          <a:p>
            <a:r>
              <a:rPr lang="en-GB" sz="1200" kern="1200" dirty="0">
                <a:solidFill>
                  <a:schemeClr val="tx1"/>
                </a:solidFill>
                <a:effectLst/>
                <a:latin typeface="+mn-lt"/>
                <a:ea typeface="+mn-ea"/>
                <a:cs typeface="+mn-cs"/>
              </a:rPr>
              <a:t>│     - CORS policy check                                       │</a:t>
            </a:r>
          </a:p>
          <a:p>
            <a:r>
              <a:rPr lang="en-GB" sz="1200" kern="1200" dirty="0">
                <a:solidFill>
                  <a:schemeClr val="tx1"/>
                </a:solidFill>
                <a:effectLst/>
                <a:latin typeface="+mn-lt"/>
                <a:ea typeface="+mn-ea"/>
                <a:cs typeface="+mn-cs"/>
              </a:rPr>
              <a:t>│     - Security headers (CSP, X-Frame-Options, etc.)           │</a:t>
            </a:r>
          </a:p>
          <a:p>
            <a:r>
              <a:rPr lang="en-GB" sz="1200" kern="1200" dirty="0">
                <a:solidFill>
                  <a:schemeClr val="tx1"/>
                </a:solidFill>
                <a:effectLst/>
                <a:latin typeface="+mn-lt"/>
                <a:ea typeface="+mn-ea"/>
                <a:cs typeface="+mn-cs"/>
              </a:rPr>
              <a:t>│     - Rate limiting / throttling (future extension)           │</a:t>
            </a:r>
          </a:p>
          <a:p>
            <a:r>
              <a:rPr lang="en-GB" sz="1200" kern="1200" dirty="0">
                <a:solidFill>
                  <a:schemeClr val="tx1"/>
                </a:solidFill>
                <a:effectLst/>
                <a:latin typeface="+mn-lt"/>
                <a:ea typeface="+mn-ea"/>
                <a:cs typeface="+mn-cs"/>
              </a:rPr>
              <a:t>└──────────────────────────────────────────────────────────────┘</a:t>
            </a:r>
          </a:p>
          <a:p>
            <a:r>
              <a:rPr lang="en-GB" sz="1200" kern="1200" dirty="0">
                <a:solidFill>
                  <a:schemeClr val="tx1"/>
                </a:solidFill>
                <a:effectLst/>
                <a:latin typeface="+mn-lt"/>
                <a:ea typeface="+mn-ea"/>
                <a:cs typeface="+mn-cs"/>
              </a:rPr>
              <a:t>               │</a:t>
            </a:r>
          </a:p>
          <a:p>
            <a:r>
              <a:rPr lang="en-GB" sz="1200" kern="1200" dirty="0">
                <a:solidFill>
                  <a:schemeClr val="tx1"/>
                </a:solidFill>
                <a:effectLst/>
                <a:latin typeface="+mn-lt"/>
                <a:ea typeface="+mn-ea"/>
                <a:cs typeface="+mn-cs"/>
              </a:rPr>
              <a:t>               ▼</a:t>
            </a:r>
          </a:p>
          <a:p>
            <a:r>
              <a:rPr lang="en-GB" sz="1200" kern="1200" dirty="0">
                <a:solidFill>
                  <a:schemeClr val="tx1"/>
                </a:solidFill>
                <a:effectLst/>
                <a:latin typeface="+mn-lt"/>
                <a:ea typeface="+mn-ea"/>
                <a:cs typeface="+mn-cs"/>
              </a:rPr>
              <a:t>┌──────────────────────────────────────────────────────────────┐</a:t>
            </a:r>
          </a:p>
          <a:p>
            <a:r>
              <a:rPr lang="en-GB" sz="1200" kern="1200" dirty="0">
                <a:solidFill>
                  <a:schemeClr val="tx1"/>
                </a:solidFill>
                <a:effectLst/>
                <a:latin typeface="+mn-lt"/>
                <a:ea typeface="+mn-ea"/>
                <a:cs typeface="+mn-cs"/>
              </a:rPr>
              <a:t>│ 2️⃣  Authentication &amp; Authorization                           │</a:t>
            </a:r>
          </a:p>
          <a:p>
            <a:r>
              <a:rPr lang="en-GB" sz="1200" kern="1200" dirty="0">
                <a:solidFill>
                  <a:schemeClr val="tx1"/>
                </a:solidFill>
                <a:effectLst/>
                <a:latin typeface="+mn-lt"/>
                <a:ea typeface="+mn-ea"/>
                <a:cs typeface="+mn-cs"/>
              </a:rPr>
              <a:t>│     - Validates JWT via </a:t>
            </a:r>
            <a:r>
              <a:rPr lang="en-GB" sz="1200" kern="1200" dirty="0" err="1">
                <a:solidFill>
                  <a:schemeClr val="tx1"/>
                </a:solidFill>
                <a:effectLst/>
                <a:latin typeface="+mn-lt"/>
                <a:ea typeface="+mn-ea"/>
                <a:cs typeface="+mn-cs"/>
              </a:rPr>
              <a:t>JwtBearerDefaults</a:t>
            </a:r>
            <a:r>
              <a:rPr lang="en-GB" sz="1200" kern="1200" dirty="0">
                <a:solidFill>
                  <a:schemeClr val="tx1"/>
                </a:solidFill>
                <a:effectLst/>
                <a:latin typeface="+mn-lt"/>
                <a:ea typeface="+mn-ea"/>
                <a:cs typeface="+mn-cs"/>
              </a:rPr>
              <a:t> scheme              │</a:t>
            </a:r>
          </a:p>
          <a:p>
            <a:r>
              <a:rPr lang="en-GB" sz="1200" kern="1200" dirty="0">
                <a:solidFill>
                  <a:schemeClr val="tx1"/>
                </a:solidFill>
                <a:effectLst/>
                <a:latin typeface="+mn-lt"/>
                <a:ea typeface="+mn-ea"/>
                <a:cs typeface="+mn-cs"/>
              </a:rPr>
              <a:t>│     - Verifies signature, expiry, issuer, and audience        │</a:t>
            </a:r>
          </a:p>
          <a:p>
            <a:r>
              <a:rPr lang="en-GB" sz="1200" kern="1200" dirty="0">
                <a:solidFill>
                  <a:schemeClr val="tx1"/>
                </a:solidFill>
                <a:effectLst/>
                <a:latin typeface="+mn-lt"/>
                <a:ea typeface="+mn-ea"/>
                <a:cs typeface="+mn-cs"/>
              </a:rPr>
              <a:t>│     - Rejects if token invalid → 401 Unauthorized             │</a:t>
            </a:r>
          </a:p>
          <a:p>
            <a:r>
              <a:rPr lang="en-GB" sz="1200" kern="1200" dirty="0">
                <a:solidFill>
                  <a:schemeClr val="tx1"/>
                </a:solidFill>
                <a:effectLst/>
                <a:latin typeface="+mn-lt"/>
                <a:ea typeface="+mn-ea"/>
                <a:cs typeface="+mn-cs"/>
              </a:rPr>
              <a:t>└──────────────────────────────────────────────────────────────┘</a:t>
            </a:r>
          </a:p>
          <a:p>
            <a:r>
              <a:rPr lang="en-GB" sz="1200" kern="1200" dirty="0">
                <a:solidFill>
                  <a:schemeClr val="tx1"/>
                </a:solidFill>
                <a:effectLst/>
                <a:latin typeface="+mn-lt"/>
                <a:ea typeface="+mn-ea"/>
                <a:cs typeface="+mn-cs"/>
              </a:rPr>
              <a:t>               │</a:t>
            </a:r>
          </a:p>
          <a:p>
            <a:r>
              <a:rPr lang="en-GB" sz="1200" kern="1200" dirty="0">
                <a:solidFill>
                  <a:schemeClr val="tx1"/>
                </a:solidFill>
                <a:effectLst/>
                <a:latin typeface="+mn-lt"/>
                <a:ea typeface="+mn-ea"/>
                <a:cs typeface="+mn-cs"/>
              </a:rPr>
              <a:t>               ▼</a:t>
            </a:r>
          </a:p>
          <a:p>
            <a:r>
              <a:rPr lang="en-GB" sz="1200" kern="1200" dirty="0">
                <a:solidFill>
                  <a:schemeClr val="tx1"/>
                </a:solidFill>
                <a:effectLst/>
                <a:latin typeface="+mn-lt"/>
                <a:ea typeface="+mn-ea"/>
                <a:cs typeface="+mn-cs"/>
              </a:rPr>
              <a:t>┌──────────────────────────────────────────────────────────────┐</a:t>
            </a:r>
          </a:p>
          <a:p>
            <a:r>
              <a:rPr lang="en-GB" sz="1200" kern="1200" dirty="0">
                <a:solidFill>
                  <a:schemeClr val="tx1"/>
                </a:solidFill>
                <a:effectLst/>
                <a:latin typeface="+mn-lt"/>
                <a:ea typeface="+mn-ea"/>
                <a:cs typeface="+mn-cs"/>
              </a:rPr>
              <a:t>│ 3️⃣  Controller Filter Layer (Attribute Level)                │</a:t>
            </a:r>
          </a:p>
          <a:p>
            <a:r>
              <a:rPr lang="en-GB" sz="1200" kern="1200" dirty="0">
                <a:solidFill>
                  <a:schemeClr val="tx1"/>
                </a:solidFill>
                <a:effectLst/>
                <a:latin typeface="+mn-lt"/>
                <a:ea typeface="+mn-ea"/>
                <a:cs typeface="+mn-cs"/>
              </a:rPr>
              <a:t>│     - `[Authorize]` on protected endpoints                    │</a:t>
            </a:r>
          </a:p>
          <a:p>
            <a:r>
              <a:rPr lang="en-GB" sz="1200" kern="1200" dirty="0">
                <a:solidFill>
                  <a:schemeClr val="tx1"/>
                </a:solidFill>
                <a:effectLst/>
                <a:latin typeface="+mn-lt"/>
                <a:ea typeface="+mn-ea"/>
                <a:cs typeface="+mn-cs"/>
              </a:rPr>
              <a:t>│     - `[</a:t>
            </a:r>
            <a:r>
              <a:rPr lang="en-GB" sz="1200" kern="1200" dirty="0" err="1">
                <a:solidFill>
                  <a:schemeClr val="tx1"/>
                </a:solidFill>
                <a:effectLst/>
                <a:latin typeface="+mn-lt"/>
                <a:ea typeface="+mn-ea"/>
                <a:cs typeface="+mn-cs"/>
              </a:rPr>
              <a:t>ApiController</a:t>
            </a:r>
            <a:r>
              <a:rPr lang="en-GB" sz="1200" kern="1200" dirty="0">
                <a:solidFill>
                  <a:schemeClr val="tx1"/>
                </a:solidFill>
                <a:effectLst/>
                <a:latin typeface="+mn-lt"/>
                <a:ea typeface="+mn-ea"/>
                <a:cs typeface="+mn-cs"/>
              </a:rPr>
              <a:t>]` adds automatic model validation        │</a:t>
            </a:r>
          </a:p>
          <a:p>
            <a:r>
              <a:rPr lang="en-GB" sz="1200" kern="1200" dirty="0">
                <a:solidFill>
                  <a:schemeClr val="tx1"/>
                </a:solidFill>
                <a:effectLst/>
                <a:latin typeface="+mn-lt"/>
                <a:ea typeface="+mn-ea"/>
                <a:cs typeface="+mn-cs"/>
              </a:rPr>
              <a:t>│     - `[</a:t>
            </a:r>
            <a:r>
              <a:rPr lang="en-GB" sz="1200" kern="1200" dirty="0" err="1">
                <a:solidFill>
                  <a:schemeClr val="tx1"/>
                </a:solidFill>
                <a:effectLst/>
                <a:latin typeface="+mn-lt"/>
                <a:ea typeface="+mn-ea"/>
                <a:cs typeface="+mn-cs"/>
              </a:rPr>
              <a:t>FromBody</a:t>
            </a:r>
            <a:r>
              <a:rPr lang="en-GB" sz="1200" kern="1200" dirty="0">
                <a:solidFill>
                  <a:schemeClr val="tx1"/>
                </a:solidFill>
                <a:effectLst/>
                <a:latin typeface="+mn-lt"/>
                <a:ea typeface="+mn-ea"/>
                <a:cs typeface="+mn-cs"/>
              </a:rPr>
              <a:t>]` &amp; `[</a:t>
            </a:r>
            <a:r>
              <a:rPr lang="en-GB" sz="1200" kern="1200" dirty="0" err="1">
                <a:solidFill>
                  <a:schemeClr val="tx1"/>
                </a:solidFill>
                <a:effectLst/>
                <a:latin typeface="+mn-lt"/>
                <a:ea typeface="+mn-ea"/>
                <a:cs typeface="+mn-cs"/>
              </a:rPr>
              <a:t>FromQuery</a:t>
            </a:r>
            <a:r>
              <a:rPr lang="en-GB" sz="1200" kern="1200" dirty="0">
                <a:solidFill>
                  <a:schemeClr val="tx1"/>
                </a:solidFill>
                <a:effectLst/>
                <a:latin typeface="+mn-lt"/>
                <a:ea typeface="+mn-ea"/>
                <a:cs typeface="+mn-cs"/>
              </a:rPr>
              <a:t>]` enforce type-safe binding   │</a:t>
            </a:r>
          </a:p>
          <a:p>
            <a:r>
              <a:rPr lang="en-GB" sz="1200" kern="1200" dirty="0">
                <a:solidFill>
                  <a:schemeClr val="tx1"/>
                </a:solidFill>
                <a:effectLst/>
                <a:latin typeface="+mn-lt"/>
                <a:ea typeface="+mn-ea"/>
                <a:cs typeface="+mn-cs"/>
              </a:rPr>
              <a:t>└──────────────────────────────────────────────────────────────┘</a:t>
            </a:r>
          </a:p>
          <a:p>
            <a:r>
              <a:rPr lang="en-GB" sz="1200" kern="1200" dirty="0">
                <a:solidFill>
                  <a:schemeClr val="tx1"/>
                </a:solidFill>
                <a:effectLst/>
                <a:latin typeface="+mn-lt"/>
                <a:ea typeface="+mn-ea"/>
                <a:cs typeface="+mn-cs"/>
              </a:rPr>
              <a:t>               │</a:t>
            </a:r>
          </a:p>
          <a:p>
            <a:r>
              <a:rPr lang="en-GB" sz="1200" kern="1200" dirty="0">
                <a:solidFill>
                  <a:schemeClr val="tx1"/>
                </a:solidFill>
                <a:effectLst/>
                <a:latin typeface="+mn-lt"/>
                <a:ea typeface="+mn-ea"/>
                <a:cs typeface="+mn-cs"/>
              </a:rPr>
              <a:t>               ▼</a:t>
            </a:r>
          </a:p>
          <a:p>
            <a:r>
              <a:rPr lang="en-GB" sz="1200" kern="1200" dirty="0">
                <a:solidFill>
                  <a:schemeClr val="tx1"/>
                </a:solidFill>
                <a:effectLst/>
                <a:latin typeface="+mn-lt"/>
                <a:ea typeface="+mn-ea"/>
                <a:cs typeface="+mn-cs"/>
              </a:rPr>
              <a:t>┌──────────────────────────────────────────────────────────────┐</a:t>
            </a:r>
          </a:p>
          <a:p>
            <a:r>
              <a:rPr lang="en-GB" sz="1200" kern="1200" dirty="0">
                <a:solidFill>
                  <a:schemeClr val="tx1"/>
                </a:solidFill>
                <a:effectLst/>
                <a:latin typeface="+mn-lt"/>
                <a:ea typeface="+mn-ea"/>
                <a:cs typeface="+mn-cs"/>
              </a:rPr>
              <a:t>│ 4️⃣  Bot Detection &amp; Input Sanitization Layer                 │</a:t>
            </a:r>
          </a:p>
          <a:p>
            <a:r>
              <a:rPr lang="en-GB" sz="1200" kern="1200" dirty="0">
                <a:solidFill>
                  <a:schemeClr val="tx1"/>
                </a:solidFill>
                <a:effectLst/>
                <a:latin typeface="+mn-lt"/>
                <a:ea typeface="+mn-ea"/>
                <a:cs typeface="+mn-cs"/>
              </a:rPr>
              <a:t>│     - `</a:t>
            </a:r>
            <a:r>
              <a:rPr lang="en-GB" sz="1200" kern="1200" dirty="0" err="1">
                <a:solidFill>
                  <a:schemeClr val="tx1"/>
                </a:solidFill>
                <a:effectLst/>
                <a:latin typeface="+mn-lt"/>
                <a:ea typeface="+mn-ea"/>
                <a:cs typeface="+mn-cs"/>
              </a:rPr>
              <a:t>BotDetectionService.IsSuspiciousRequest</a:t>
            </a:r>
            <a:r>
              <a:rPr lang="en-GB" sz="1200" kern="1200" dirty="0">
                <a:solidFill>
                  <a:schemeClr val="tx1"/>
                </a:solidFill>
                <a:effectLst/>
                <a:latin typeface="+mn-lt"/>
                <a:ea typeface="+mn-ea"/>
                <a:cs typeface="+mn-cs"/>
              </a:rPr>
              <a:t>()`             │</a:t>
            </a:r>
          </a:p>
          <a:p>
            <a:r>
              <a:rPr lang="en-GB" sz="1200" kern="1200" dirty="0">
                <a:solidFill>
                  <a:schemeClr val="tx1"/>
                </a:solidFill>
                <a:effectLst/>
                <a:latin typeface="+mn-lt"/>
                <a:ea typeface="+mn-ea"/>
                <a:cs typeface="+mn-cs"/>
              </a:rPr>
              <a:t>│         Checks:                                               │</a:t>
            </a:r>
          </a:p>
          <a:p>
            <a:r>
              <a:rPr lang="en-GB" sz="1200" kern="1200" dirty="0">
                <a:solidFill>
                  <a:schemeClr val="tx1"/>
                </a:solidFill>
                <a:effectLst/>
                <a:latin typeface="+mn-lt"/>
                <a:ea typeface="+mn-ea"/>
                <a:cs typeface="+mn-cs"/>
              </a:rPr>
              <a:t>│         ▫ Empty or malicious User-Agent (bot, crawler, etc.)  │</a:t>
            </a:r>
          </a:p>
          <a:p>
            <a:r>
              <a:rPr lang="en-GB" sz="1200" kern="1200" dirty="0">
                <a:solidFill>
                  <a:schemeClr val="tx1"/>
                </a:solidFill>
                <a:effectLst/>
                <a:latin typeface="+mn-lt"/>
                <a:ea typeface="+mn-ea"/>
                <a:cs typeface="+mn-cs"/>
              </a:rPr>
              <a:t>│         ▫ Suspicious headers (curl, </a:t>
            </a:r>
            <a:r>
              <a:rPr lang="en-GB" sz="1200" kern="1200" dirty="0" err="1">
                <a:solidFill>
                  <a:schemeClr val="tx1"/>
                </a:solidFill>
                <a:effectLst/>
                <a:latin typeface="+mn-lt"/>
                <a:ea typeface="+mn-ea"/>
                <a:cs typeface="+mn-cs"/>
              </a:rPr>
              <a:t>httpclient</a:t>
            </a:r>
            <a:r>
              <a:rPr lang="en-GB" sz="1200" kern="1200" dirty="0">
                <a:solidFill>
                  <a:schemeClr val="tx1"/>
                </a:solidFill>
                <a:effectLst/>
                <a:latin typeface="+mn-lt"/>
                <a:ea typeface="+mn-ea"/>
                <a:cs typeface="+mn-cs"/>
              </a:rPr>
              <a:t>, postman)      │</a:t>
            </a:r>
          </a:p>
          <a:p>
            <a:r>
              <a:rPr lang="en-GB" sz="1200" kern="1200" dirty="0">
                <a:solidFill>
                  <a:schemeClr val="tx1"/>
                </a:solidFill>
                <a:effectLst/>
                <a:latin typeface="+mn-lt"/>
                <a:ea typeface="+mn-ea"/>
                <a:cs typeface="+mn-cs"/>
              </a:rPr>
              <a:t>│     - Rejects with 400 if triggered                           │</a:t>
            </a:r>
          </a:p>
          <a:p>
            <a:r>
              <a:rPr lang="en-GB" sz="1200" kern="1200" dirty="0">
                <a:solidFill>
                  <a:schemeClr val="tx1"/>
                </a:solidFill>
                <a:effectLst/>
                <a:latin typeface="+mn-lt"/>
                <a:ea typeface="+mn-ea"/>
                <a:cs typeface="+mn-cs"/>
              </a:rPr>
              <a:t>│     - XSS sanitization: strips `&lt;script&gt;` tags, HTML entities │</a:t>
            </a:r>
          </a:p>
          <a:p>
            <a:r>
              <a:rPr lang="en-GB" sz="1200" kern="1200" dirty="0">
                <a:solidFill>
                  <a:schemeClr val="tx1"/>
                </a:solidFill>
                <a:effectLst/>
                <a:latin typeface="+mn-lt"/>
                <a:ea typeface="+mn-ea"/>
                <a:cs typeface="+mn-cs"/>
              </a:rPr>
              <a:t>└──────────────────────────────────────────────────────────────┘</a:t>
            </a:r>
          </a:p>
          <a:p>
            <a:r>
              <a:rPr lang="en-GB" sz="1200" kern="1200" dirty="0">
                <a:solidFill>
                  <a:schemeClr val="tx1"/>
                </a:solidFill>
                <a:effectLst/>
                <a:latin typeface="+mn-lt"/>
                <a:ea typeface="+mn-ea"/>
                <a:cs typeface="+mn-cs"/>
              </a:rPr>
              <a:t>               │</a:t>
            </a:r>
          </a:p>
          <a:p>
            <a:r>
              <a:rPr lang="en-GB" sz="1200" kern="1200" dirty="0">
                <a:solidFill>
                  <a:schemeClr val="tx1"/>
                </a:solidFill>
                <a:effectLst/>
                <a:latin typeface="+mn-lt"/>
                <a:ea typeface="+mn-ea"/>
                <a:cs typeface="+mn-cs"/>
              </a:rPr>
              <a:t>               ▼</a:t>
            </a:r>
          </a:p>
          <a:p>
            <a:r>
              <a:rPr lang="en-GB" sz="1200" kern="1200" dirty="0">
                <a:solidFill>
                  <a:schemeClr val="tx1"/>
                </a:solidFill>
                <a:effectLst/>
                <a:latin typeface="+mn-lt"/>
                <a:ea typeface="+mn-ea"/>
                <a:cs typeface="+mn-cs"/>
              </a:rPr>
              <a:t>┌──────────────────────────────────────────────────────────────┐</a:t>
            </a:r>
          </a:p>
          <a:p>
            <a:r>
              <a:rPr lang="en-GB" sz="1200" kern="1200" dirty="0">
                <a:solidFill>
                  <a:schemeClr val="tx1"/>
                </a:solidFill>
                <a:effectLst/>
                <a:latin typeface="+mn-lt"/>
                <a:ea typeface="+mn-ea"/>
                <a:cs typeface="+mn-cs"/>
              </a:rPr>
              <a:t>│ 5️⃣  Business Logic Layer (Core Service)                      │</a:t>
            </a:r>
          </a:p>
          <a:p>
            <a:r>
              <a:rPr lang="en-GB" sz="1200" kern="1200" dirty="0">
                <a:solidFill>
                  <a:schemeClr val="tx1"/>
                </a:solidFill>
                <a:effectLst/>
                <a:latin typeface="+mn-lt"/>
                <a:ea typeface="+mn-ea"/>
                <a:cs typeface="+mn-cs"/>
              </a:rPr>
              <a:t>│     - Validates data constraints                              │</a:t>
            </a:r>
          </a:p>
          <a:p>
            <a:r>
              <a:rPr lang="en-GB" sz="1200" kern="1200" dirty="0">
                <a:solidFill>
                  <a:schemeClr val="tx1"/>
                </a:solidFill>
                <a:effectLst/>
                <a:latin typeface="+mn-lt"/>
                <a:ea typeface="+mn-ea"/>
                <a:cs typeface="+mn-cs"/>
              </a:rPr>
              <a:t>│     - Applies business rules (amount &gt; 0, unique emails)      │</a:t>
            </a:r>
          </a:p>
          <a:p>
            <a:r>
              <a:rPr lang="en-GB" sz="1200" kern="1200" dirty="0">
                <a:solidFill>
                  <a:schemeClr val="tx1"/>
                </a:solidFill>
                <a:effectLst/>
                <a:latin typeface="+mn-lt"/>
                <a:ea typeface="+mn-ea"/>
                <a:cs typeface="+mn-cs"/>
              </a:rPr>
              <a:t>│     - Prevents ORM </a:t>
            </a:r>
            <a:r>
              <a:rPr lang="en-GB" sz="1200" kern="1200" dirty="0" err="1">
                <a:solidFill>
                  <a:schemeClr val="tx1"/>
                </a:solidFill>
                <a:effectLst/>
                <a:latin typeface="+mn-lt"/>
                <a:ea typeface="+mn-ea"/>
                <a:cs typeface="+mn-cs"/>
              </a:rPr>
              <a:t>overposting</a:t>
            </a:r>
            <a:r>
              <a:rPr lang="en-GB" sz="1200" kern="1200" dirty="0">
                <a:solidFill>
                  <a:schemeClr val="tx1"/>
                </a:solidFill>
                <a:effectLst/>
                <a:latin typeface="+mn-lt"/>
                <a:ea typeface="+mn-ea"/>
                <a:cs typeface="+mn-cs"/>
              </a:rPr>
              <a:t> (maps only allowed fields)     │</a:t>
            </a:r>
          </a:p>
          <a:p>
            <a:r>
              <a:rPr lang="en-GB" sz="1200" kern="1200" dirty="0">
                <a:solidFill>
                  <a:schemeClr val="tx1"/>
                </a:solidFill>
                <a:effectLst/>
                <a:latin typeface="+mn-lt"/>
                <a:ea typeface="+mn-ea"/>
                <a:cs typeface="+mn-cs"/>
              </a:rPr>
              <a:t>└──────────────────────────────────────────────────────────────┘</a:t>
            </a:r>
          </a:p>
          <a:p>
            <a:r>
              <a:rPr lang="en-GB" sz="1200" kern="1200" dirty="0">
                <a:solidFill>
                  <a:schemeClr val="tx1"/>
                </a:solidFill>
                <a:effectLst/>
                <a:latin typeface="+mn-lt"/>
                <a:ea typeface="+mn-ea"/>
                <a:cs typeface="+mn-cs"/>
              </a:rPr>
              <a:t>               │</a:t>
            </a:r>
          </a:p>
          <a:p>
            <a:r>
              <a:rPr lang="en-GB" sz="1200" kern="1200" dirty="0">
                <a:solidFill>
                  <a:schemeClr val="tx1"/>
                </a:solidFill>
                <a:effectLst/>
                <a:latin typeface="+mn-lt"/>
                <a:ea typeface="+mn-ea"/>
                <a:cs typeface="+mn-cs"/>
              </a:rPr>
              <a:t>               ▼</a:t>
            </a:r>
          </a:p>
          <a:p>
            <a:r>
              <a:rPr lang="en-GB" sz="1200" kern="1200" dirty="0">
                <a:solidFill>
                  <a:schemeClr val="tx1"/>
                </a:solidFill>
                <a:effectLst/>
                <a:latin typeface="+mn-lt"/>
                <a:ea typeface="+mn-ea"/>
                <a:cs typeface="+mn-cs"/>
              </a:rPr>
              <a:t>┌──────────────────────────────────────────────────────────────┐</a:t>
            </a:r>
          </a:p>
          <a:p>
            <a:r>
              <a:rPr lang="en-GB" sz="1200" kern="1200" dirty="0">
                <a:solidFill>
                  <a:schemeClr val="tx1"/>
                </a:solidFill>
                <a:effectLst/>
                <a:latin typeface="+mn-lt"/>
                <a:ea typeface="+mn-ea"/>
                <a:cs typeface="+mn-cs"/>
              </a:rPr>
              <a:t>│ 6️⃣  Data Access Layer (Repository/EF Core)                   │</a:t>
            </a:r>
          </a:p>
          <a:p>
            <a:r>
              <a:rPr lang="en-GB" sz="1200" kern="1200" dirty="0">
                <a:solidFill>
                  <a:schemeClr val="tx1"/>
                </a:solidFill>
                <a:effectLst/>
                <a:latin typeface="+mn-lt"/>
                <a:ea typeface="+mn-ea"/>
                <a:cs typeface="+mn-cs"/>
              </a:rPr>
              <a:t>│     - Parameterized SQL → prevents SQL injection              │</a:t>
            </a:r>
          </a:p>
          <a:p>
            <a:r>
              <a:rPr lang="en-GB" sz="1200" kern="1200" dirty="0">
                <a:solidFill>
                  <a:schemeClr val="tx1"/>
                </a:solidFill>
                <a:effectLst/>
                <a:latin typeface="+mn-lt"/>
                <a:ea typeface="+mn-ea"/>
                <a:cs typeface="+mn-cs"/>
              </a:rPr>
              <a:t>│     - DB schema constraints validate integrity                │</a:t>
            </a:r>
          </a:p>
          <a:p>
            <a:r>
              <a:rPr lang="en-GB" sz="1200" kern="1200" dirty="0">
                <a:solidFill>
                  <a:schemeClr val="tx1"/>
                </a:solidFill>
                <a:effectLst/>
                <a:latin typeface="+mn-lt"/>
                <a:ea typeface="+mn-ea"/>
                <a:cs typeface="+mn-cs"/>
              </a:rPr>
              <a:t>│     - EF migrations enforce consistent schema                 │</a:t>
            </a:r>
          </a:p>
          <a:p>
            <a:r>
              <a:rPr lang="en-GB" sz="1200" kern="1200" dirty="0">
                <a:solidFill>
                  <a:schemeClr val="tx1"/>
                </a:solidFill>
                <a:effectLst/>
                <a:latin typeface="+mn-lt"/>
                <a:ea typeface="+mn-ea"/>
                <a:cs typeface="+mn-cs"/>
              </a:rPr>
              <a:t>└──────────────────────────────────────────────────────────────┘</a:t>
            </a:r>
          </a:p>
          <a:p>
            <a:r>
              <a:rPr lang="en-GB" sz="1200" kern="1200" dirty="0">
                <a:solidFill>
                  <a:schemeClr val="tx1"/>
                </a:solidFill>
                <a:effectLst/>
                <a:latin typeface="+mn-lt"/>
                <a:ea typeface="+mn-ea"/>
                <a:cs typeface="+mn-cs"/>
              </a:rPr>
              <a:t>               │</a:t>
            </a:r>
          </a:p>
          <a:p>
            <a:r>
              <a:rPr lang="en-GB" sz="1200" kern="1200" dirty="0">
                <a:solidFill>
                  <a:schemeClr val="tx1"/>
                </a:solidFill>
                <a:effectLst/>
                <a:latin typeface="+mn-lt"/>
                <a:ea typeface="+mn-ea"/>
                <a:cs typeface="+mn-cs"/>
              </a:rPr>
              <a:t>               ▼</a:t>
            </a:r>
          </a:p>
          <a:p>
            <a:r>
              <a:rPr lang="en-GB" sz="1200" kern="1200" dirty="0">
                <a:solidFill>
                  <a:schemeClr val="tx1"/>
                </a:solidFill>
                <a:effectLst/>
                <a:latin typeface="+mn-lt"/>
                <a:ea typeface="+mn-ea"/>
                <a:cs typeface="+mn-cs"/>
              </a:rPr>
              <a:t>┌──────────────────────────────────────────────────────────────┐</a:t>
            </a:r>
          </a:p>
          <a:p>
            <a:r>
              <a:rPr lang="en-GB" sz="1200" kern="1200" dirty="0">
                <a:solidFill>
                  <a:schemeClr val="tx1"/>
                </a:solidFill>
                <a:effectLst/>
                <a:latin typeface="+mn-lt"/>
                <a:ea typeface="+mn-ea"/>
                <a:cs typeface="+mn-cs"/>
              </a:rPr>
              <a:t>│ 7️⃣  </a:t>
            </a:r>
            <a:r>
              <a:rPr lang="en-GB" sz="1200" kern="1200" dirty="0" err="1">
                <a:solidFill>
                  <a:schemeClr val="tx1"/>
                </a:solidFill>
                <a:effectLst/>
                <a:latin typeface="+mn-lt"/>
                <a:ea typeface="+mn-ea"/>
                <a:cs typeface="+mn-cs"/>
              </a:rPr>
              <a:t>ApiResponse</a:t>
            </a:r>
            <a:r>
              <a:rPr lang="en-GB" sz="1200" kern="1200" dirty="0">
                <a:solidFill>
                  <a:schemeClr val="tx1"/>
                </a:solidFill>
                <a:effectLst/>
                <a:latin typeface="+mn-lt"/>
                <a:ea typeface="+mn-ea"/>
                <a:cs typeface="+mn-cs"/>
              </a:rPr>
              <a:t> Builder                                      │</a:t>
            </a:r>
          </a:p>
          <a:p>
            <a:r>
              <a:rPr lang="en-GB" sz="1200" kern="1200" dirty="0">
                <a:solidFill>
                  <a:schemeClr val="tx1"/>
                </a:solidFill>
                <a:effectLst/>
                <a:latin typeface="+mn-lt"/>
                <a:ea typeface="+mn-ea"/>
                <a:cs typeface="+mn-cs"/>
              </a:rPr>
              <a:t>│     - Wraps data into structured JSON                         │</a:t>
            </a:r>
          </a:p>
          <a:p>
            <a:r>
              <a:rPr lang="en-GB" sz="1200" kern="1200" dirty="0">
                <a:solidFill>
                  <a:schemeClr val="tx1"/>
                </a:solidFill>
                <a:effectLst/>
                <a:latin typeface="+mn-lt"/>
                <a:ea typeface="+mn-ea"/>
                <a:cs typeface="+mn-cs"/>
              </a:rPr>
              <a:t>│     - Adds timestamp + </a:t>
            </a:r>
            <a:r>
              <a:rPr lang="en-GB" sz="1200" kern="1200" dirty="0" err="1">
                <a:solidFill>
                  <a:schemeClr val="tx1"/>
                </a:solidFill>
                <a:effectLst/>
                <a:latin typeface="+mn-lt"/>
                <a:ea typeface="+mn-ea"/>
                <a:cs typeface="+mn-cs"/>
              </a:rPr>
              <a:t>requestId</a:t>
            </a:r>
            <a:r>
              <a:rPr lang="en-GB" sz="1200" kern="1200" dirty="0">
                <a:solidFill>
                  <a:schemeClr val="tx1"/>
                </a:solidFill>
                <a:effectLst/>
                <a:latin typeface="+mn-lt"/>
                <a:ea typeface="+mn-ea"/>
                <a:cs typeface="+mn-cs"/>
              </a:rPr>
              <a:t> + pagination info            │</a:t>
            </a:r>
          </a:p>
          <a:p>
            <a:r>
              <a:rPr lang="en-GB" sz="1200" kern="1200" dirty="0">
                <a:solidFill>
                  <a:schemeClr val="tx1"/>
                </a:solidFill>
                <a:effectLst/>
                <a:latin typeface="+mn-lt"/>
                <a:ea typeface="+mn-ea"/>
                <a:cs typeface="+mn-cs"/>
              </a:rPr>
              <a:t>│     - Never exposes stack traces or raw exception messages    │</a:t>
            </a:r>
          </a:p>
          <a:p>
            <a:r>
              <a:rPr lang="en-GB" sz="1200" kern="1200" dirty="0">
                <a:solidFill>
                  <a:schemeClr val="tx1"/>
                </a:solidFill>
                <a:effectLst/>
                <a:latin typeface="+mn-lt"/>
                <a:ea typeface="+mn-ea"/>
                <a:cs typeface="+mn-cs"/>
              </a:rPr>
              <a:t>└──────────────────────────────────────────────────────────────┘</a:t>
            </a:r>
          </a:p>
          <a:p>
            <a:r>
              <a:rPr lang="en-GB" sz="1200" kern="1200" dirty="0">
                <a:solidFill>
                  <a:schemeClr val="tx1"/>
                </a:solidFill>
                <a:effectLst/>
                <a:latin typeface="+mn-lt"/>
                <a:ea typeface="+mn-ea"/>
                <a:cs typeface="+mn-cs"/>
              </a:rPr>
              <a:t>               │</a:t>
            </a:r>
          </a:p>
          <a:p>
            <a:r>
              <a:rPr lang="en-GB" sz="1200" kern="1200" dirty="0">
                <a:solidFill>
                  <a:schemeClr val="tx1"/>
                </a:solidFill>
                <a:effectLst/>
                <a:latin typeface="+mn-lt"/>
                <a:ea typeface="+mn-ea"/>
                <a:cs typeface="+mn-cs"/>
              </a:rPr>
              <a:t>               ▼</a:t>
            </a:r>
          </a:p>
          <a:p>
            <a:r>
              <a:rPr lang="en-GB" sz="1200" kern="1200" dirty="0">
                <a:solidFill>
                  <a:schemeClr val="tx1"/>
                </a:solidFill>
                <a:effectLst/>
                <a:latin typeface="+mn-lt"/>
                <a:ea typeface="+mn-ea"/>
                <a:cs typeface="+mn-cs"/>
              </a:rPr>
              <a:t>┌──────────────────────────────────────────────────────────────┐</a:t>
            </a:r>
          </a:p>
          <a:p>
            <a:r>
              <a:rPr lang="en-GB" sz="1200" kern="1200" dirty="0">
                <a:solidFill>
                  <a:schemeClr val="tx1"/>
                </a:solidFill>
                <a:effectLst/>
                <a:latin typeface="+mn-lt"/>
                <a:ea typeface="+mn-ea"/>
                <a:cs typeface="+mn-cs"/>
              </a:rPr>
              <a:t>│ 8️⃣  Outgoing Response Pipeline                               │</a:t>
            </a:r>
          </a:p>
          <a:p>
            <a:r>
              <a:rPr lang="en-GB" sz="1200" kern="1200" dirty="0">
                <a:solidFill>
                  <a:schemeClr val="tx1"/>
                </a:solidFill>
                <a:effectLst/>
                <a:latin typeface="+mn-lt"/>
                <a:ea typeface="+mn-ea"/>
                <a:cs typeface="+mn-cs"/>
              </a:rPr>
              <a:t>│     - Serialized using safe JSON options (no cycles)          │</a:t>
            </a:r>
          </a:p>
          <a:p>
            <a:r>
              <a:rPr lang="en-GB" sz="1200" kern="1200" dirty="0">
                <a:solidFill>
                  <a:schemeClr val="tx1"/>
                </a:solidFill>
                <a:effectLst/>
                <a:latin typeface="+mn-lt"/>
                <a:ea typeface="+mn-ea"/>
                <a:cs typeface="+mn-cs"/>
              </a:rPr>
              <a:t>│     - Response headers sanitized (no Server, no ASP.NET tag)  │</a:t>
            </a:r>
          </a:p>
          <a:p>
            <a:r>
              <a:rPr lang="en-GB" sz="1200" kern="1200" dirty="0">
                <a:solidFill>
                  <a:schemeClr val="tx1"/>
                </a:solidFill>
                <a:effectLst/>
                <a:latin typeface="+mn-lt"/>
                <a:ea typeface="+mn-ea"/>
                <a:cs typeface="+mn-cs"/>
              </a:rPr>
              <a:t>│     - Compression &amp; CORS enforced again                       │</a:t>
            </a:r>
          </a:p>
          <a:p>
            <a:r>
              <a:rPr lang="en-GB" sz="1200" kern="1200" dirty="0">
                <a:solidFill>
                  <a:schemeClr val="tx1"/>
                </a:solidFill>
                <a:effectLst/>
                <a:latin typeface="+mn-lt"/>
                <a:ea typeface="+mn-ea"/>
                <a:cs typeface="+mn-cs"/>
              </a:rPr>
              <a:t>└──────────────────────────────────────────────────────────────┘</a:t>
            </a:r>
          </a:p>
          <a:p>
            <a:r>
              <a:rPr lang="en-GB" sz="1200" kern="1200" dirty="0">
                <a:solidFill>
                  <a:schemeClr val="tx1"/>
                </a:solidFill>
                <a:effectLst/>
                <a:latin typeface="+mn-lt"/>
                <a:ea typeface="+mn-ea"/>
                <a:cs typeface="+mn-cs"/>
              </a:rPr>
              <a:t>               │</a:t>
            </a:r>
          </a:p>
          <a:p>
            <a:r>
              <a:rPr lang="en-GB" sz="1200" kern="1200" dirty="0">
                <a:solidFill>
                  <a:schemeClr val="tx1"/>
                </a:solidFill>
                <a:effectLst/>
                <a:latin typeface="+mn-lt"/>
                <a:ea typeface="+mn-ea"/>
                <a:cs typeface="+mn-cs"/>
              </a:rPr>
              <a:t>               ▼</a:t>
            </a:r>
          </a:p>
          <a:p>
            <a:r>
              <a:rPr lang="en-GB" sz="1200" kern="1200" dirty="0">
                <a:solidFill>
                  <a:schemeClr val="tx1"/>
                </a:solidFill>
                <a:effectLst/>
                <a:latin typeface="+mn-lt"/>
                <a:ea typeface="+mn-ea"/>
                <a:cs typeface="+mn-cs"/>
              </a:rPr>
              <a:t>✅ **Final JSON Response Sent to Client**</a:t>
            </a:r>
            <a:br>
              <a:rPr lang="en-GB" sz="1200" kern="1200" dirty="0">
                <a:solidFill>
                  <a:schemeClr val="tx1"/>
                </a:solidFill>
                <a:effectLst/>
                <a:latin typeface="+mn-lt"/>
                <a:ea typeface="+mn-ea"/>
                <a:cs typeface="+mn-cs"/>
              </a:rPr>
            </a:br>
            <a:br>
              <a:rPr lang="en-GB" sz="1200" kern="1200" dirty="0">
                <a:solidFill>
                  <a:schemeClr val="tx1"/>
                </a:solidFill>
                <a:effectLst/>
                <a:latin typeface="+mn-lt"/>
                <a:ea typeface="+mn-ea"/>
                <a:cs typeface="+mn-cs"/>
              </a:rPr>
            </a:br>
            <a:r>
              <a:rPr lang="en-GB" sz="1200" b="1" kern="1200" dirty="0">
                <a:solidFill>
                  <a:schemeClr val="tx1"/>
                </a:solidFill>
                <a:effectLst/>
                <a:latin typeface="+mn-lt"/>
                <a:ea typeface="+mn-ea"/>
                <a:cs typeface="+mn-cs"/>
              </a:rPr>
              <a:t>. Security Checks for a </a:t>
            </a:r>
            <a:r>
              <a:rPr lang="en-GB" sz="1200" b="0" kern="1200" dirty="0">
                <a:solidFill>
                  <a:schemeClr val="tx1"/>
                </a:solidFill>
                <a:effectLst/>
                <a:latin typeface="+mn-lt"/>
                <a:ea typeface="+mn-ea"/>
                <a:cs typeface="+mn-cs"/>
              </a:rPr>
              <a:t>GET Request</a:t>
            </a:r>
            <a:endParaRPr lang="en-GB" sz="1200" b="1"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Example:</a:t>
            </a:r>
            <a:br>
              <a:rPr lang="en-GB" sz="1200" kern="1200" dirty="0">
                <a:solidFill>
                  <a:schemeClr val="tx1"/>
                </a:solidFill>
                <a:effectLst/>
                <a:latin typeface="+mn-lt"/>
                <a:ea typeface="+mn-ea"/>
                <a:cs typeface="+mn-cs"/>
              </a:rPr>
            </a:br>
            <a:r>
              <a:rPr lang="en-GB" sz="1200" kern="1200" dirty="0">
                <a:solidFill>
                  <a:schemeClr val="tx1"/>
                </a:solidFill>
                <a:effectLst/>
                <a:latin typeface="+mn-lt"/>
                <a:ea typeface="+mn-ea"/>
                <a:cs typeface="+mn-cs"/>
              </a:rPr>
              <a:t>GET /</a:t>
            </a:r>
            <a:r>
              <a:rPr lang="en-GB" sz="1200" kern="1200" dirty="0" err="1">
                <a:solidFill>
                  <a:schemeClr val="tx1"/>
                </a:solidFill>
                <a:effectLst/>
                <a:latin typeface="+mn-lt"/>
                <a:ea typeface="+mn-ea"/>
                <a:cs typeface="+mn-cs"/>
              </a:rPr>
              <a:t>api</a:t>
            </a:r>
            <a:r>
              <a:rPr lang="en-GB" sz="1200" kern="1200" dirty="0">
                <a:solidFill>
                  <a:schemeClr val="tx1"/>
                </a:solidFill>
                <a:effectLst/>
                <a:latin typeface="+mn-lt"/>
                <a:ea typeface="+mn-ea"/>
                <a:cs typeface="+mn-cs"/>
              </a:rPr>
              <a:t>/</a:t>
            </a:r>
            <a:r>
              <a:rPr lang="en-GB" sz="1200" kern="1200" dirty="0" err="1">
                <a:solidFill>
                  <a:schemeClr val="tx1"/>
                </a:solidFill>
                <a:effectLst/>
                <a:latin typeface="+mn-lt"/>
                <a:ea typeface="+mn-ea"/>
                <a:cs typeface="+mn-cs"/>
              </a:rPr>
              <a:t>donation?page</a:t>
            </a:r>
            <a:r>
              <a:rPr lang="en-GB" sz="1200" kern="1200" dirty="0">
                <a:solidFill>
                  <a:schemeClr val="tx1"/>
                </a:solidFill>
                <a:effectLst/>
                <a:latin typeface="+mn-lt"/>
                <a:ea typeface="+mn-ea"/>
                <a:cs typeface="+mn-cs"/>
              </a:rPr>
              <a:t>=1&amp;limit=10</a:t>
            </a:r>
          </a:p>
          <a:p>
            <a:r>
              <a:rPr lang="en-GB" sz="1200" b="1" kern="1200" dirty="0">
                <a:solidFill>
                  <a:schemeClr val="tx1"/>
                </a:solidFill>
                <a:effectLst/>
                <a:latin typeface="+mn-lt"/>
                <a:ea typeface="+mn-ea"/>
                <a:cs typeface="+mn-cs"/>
              </a:rPr>
              <a:t>🔐 Step-by-Step Security Evaluation</a:t>
            </a:r>
          </a:p>
          <a:p>
            <a:r>
              <a:rPr lang="en-GB" sz="1200" b="1" kern="1200" dirty="0">
                <a:solidFill>
                  <a:schemeClr val="tx1"/>
                </a:solidFill>
                <a:effectLst/>
                <a:latin typeface="+mn-lt"/>
                <a:ea typeface="+mn-ea"/>
                <a:cs typeface="+mn-cs"/>
              </a:rPr>
              <a:t>Step</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Layer</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Security Check</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Purpose</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1</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Transport Layer</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HTTPS enforced (</a:t>
            </a:r>
            <a:r>
              <a:rPr lang="en-GB" sz="1200" kern="1200" dirty="0" err="1">
                <a:solidFill>
                  <a:schemeClr val="tx1"/>
                </a:solidFill>
                <a:effectLst/>
                <a:latin typeface="+mn-lt"/>
                <a:ea typeface="+mn-ea"/>
                <a:cs typeface="+mn-cs"/>
              </a:rPr>
              <a:t>UseHttpsRedirection</a:t>
            </a:r>
            <a:r>
              <a:rPr lang="en-GB" sz="1200" kern="1200" dirty="0">
                <a:solidFill>
                  <a:schemeClr val="tx1"/>
                </a:solidFill>
                <a:effectLst/>
                <a:latin typeface="+mn-lt"/>
                <a:ea typeface="+mn-ea"/>
                <a:cs typeface="+mn-cs"/>
              </a:rPr>
              <a:t>)</a:t>
            </a:r>
          </a:p>
          <a:p>
            <a:r>
              <a:rPr lang="en-GB" sz="1200" kern="1200" dirty="0">
                <a:solidFill>
                  <a:schemeClr val="tx1"/>
                </a:solidFill>
                <a:effectLst/>
                <a:latin typeface="+mn-lt"/>
                <a:ea typeface="+mn-ea"/>
                <a:cs typeface="+mn-cs"/>
              </a:rPr>
              <a:t>Prevents MITM and sniffing</a:t>
            </a:r>
          </a:p>
          <a:p>
            <a:r>
              <a:rPr lang="en-GB" sz="1200" b="1" kern="1200" dirty="0">
                <a:solidFill>
                  <a:schemeClr val="tx1"/>
                </a:solidFill>
                <a:effectLst/>
                <a:latin typeface="+mn-lt"/>
                <a:ea typeface="+mn-ea"/>
                <a:cs typeface="+mn-cs"/>
              </a:rPr>
              <a:t>2</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CORS</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Origin, method, and header validation</a:t>
            </a:r>
          </a:p>
          <a:p>
            <a:r>
              <a:rPr lang="en-GB" sz="1200" kern="1200" dirty="0">
                <a:solidFill>
                  <a:schemeClr val="tx1"/>
                </a:solidFill>
                <a:effectLst/>
                <a:latin typeface="+mn-lt"/>
                <a:ea typeface="+mn-ea"/>
                <a:cs typeface="+mn-cs"/>
              </a:rPr>
              <a:t>Prevents cross-domain abuse</a:t>
            </a:r>
          </a:p>
          <a:p>
            <a:r>
              <a:rPr lang="en-GB" sz="1200" b="1" kern="1200" dirty="0">
                <a:solidFill>
                  <a:schemeClr val="tx1"/>
                </a:solidFill>
                <a:effectLst/>
                <a:latin typeface="+mn-lt"/>
                <a:ea typeface="+mn-ea"/>
                <a:cs typeface="+mn-cs"/>
              </a:rPr>
              <a:t>3</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JWT Authentication</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Token verified (signature, expiry)</a:t>
            </a:r>
          </a:p>
          <a:p>
            <a:r>
              <a:rPr lang="en-GB" sz="1200" kern="1200" dirty="0">
                <a:solidFill>
                  <a:schemeClr val="tx1"/>
                </a:solidFill>
                <a:effectLst/>
                <a:latin typeface="+mn-lt"/>
                <a:ea typeface="+mn-ea"/>
                <a:cs typeface="+mn-cs"/>
              </a:rPr>
              <a:t>Ensures requester is legitimate</a:t>
            </a:r>
          </a:p>
          <a:p>
            <a:r>
              <a:rPr lang="en-GB" sz="1200" b="1" kern="1200" dirty="0">
                <a:solidFill>
                  <a:schemeClr val="tx1"/>
                </a:solidFill>
                <a:effectLst/>
                <a:latin typeface="+mn-lt"/>
                <a:ea typeface="+mn-ea"/>
                <a:cs typeface="+mn-cs"/>
              </a:rPr>
              <a:t>4</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Authorization Attribute</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[Authorize]</a:t>
            </a:r>
          </a:p>
          <a:p>
            <a:r>
              <a:rPr lang="en-GB" sz="1200" kern="1200" dirty="0">
                <a:solidFill>
                  <a:schemeClr val="tx1"/>
                </a:solidFill>
                <a:effectLst/>
                <a:latin typeface="+mn-lt"/>
                <a:ea typeface="+mn-ea"/>
                <a:cs typeface="+mn-cs"/>
              </a:rPr>
              <a:t>Restricts to logged-in users</a:t>
            </a:r>
          </a:p>
          <a:p>
            <a:r>
              <a:rPr lang="en-GB" sz="1200" b="1" kern="1200" dirty="0">
                <a:solidFill>
                  <a:schemeClr val="tx1"/>
                </a:solidFill>
                <a:effectLst/>
                <a:latin typeface="+mn-lt"/>
                <a:ea typeface="+mn-ea"/>
                <a:cs typeface="+mn-cs"/>
              </a:rPr>
              <a:t>5</a:t>
            </a:r>
            <a:endParaRPr lang="en-GB" sz="1200" kern="1200" dirty="0">
              <a:solidFill>
                <a:schemeClr val="tx1"/>
              </a:solidFill>
              <a:effectLst/>
              <a:latin typeface="+mn-lt"/>
              <a:ea typeface="+mn-ea"/>
              <a:cs typeface="+mn-cs"/>
            </a:endParaRPr>
          </a:p>
          <a:p>
            <a:r>
              <a:rPr lang="en-GB" sz="1200" b="1" kern="1200" dirty="0" err="1">
                <a:solidFill>
                  <a:schemeClr val="tx1"/>
                </a:solidFill>
                <a:effectLst/>
                <a:latin typeface="+mn-lt"/>
                <a:ea typeface="+mn-ea"/>
                <a:cs typeface="+mn-cs"/>
              </a:rPr>
              <a:t>BotDetectionService</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Examines User-Agent</a:t>
            </a:r>
          </a:p>
          <a:p>
            <a:r>
              <a:rPr lang="en-GB" sz="1200" kern="1200" dirty="0">
                <a:solidFill>
                  <a:schemeClr val="tx1"/>
                </a:solidFill>
                <a:effectLst/>
                <a:latin typeface="+mn-lt"/>
                <a:ea typeface="+mn-ea"/>
                <a:cs typeface="+mn-cs"/>
              </a:rPr>
              <a:t>Blocks crawlers/spam harvesters</a:t>
            </a:r>
          </a:p>
          <a:p>
            <a:r>
              <a:rPr lang="en-GB" sz="1200" b="1" kern="1200" dirty="0">
                <a:solidFill>
                  <a:schemeClr val="tx1"/>
                </a:solidFill>
                <a:effectLst/>
                <a:latin typeface="+mn-lt"/>
                <a:ea typeface="+mn-ea"/>
                <a:cs typeface="+mn-cs"/>
              </a:rPr>
              <a:t>6</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Input Validation</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Query params page, limit coerced to int</a:t>
            </a:r>
          </a:p>
          <a:p>
            <a:r>
              <a:rPr lang="en-GB" sz="1200" kern="1200" dirty="0">
                <a:solidFill>
                  <a:schemeClr val="tx1"/>
                </a:solidFill>
                <a:effectLst/>
                <a:latin typeface="+mn-lt"/>
                <a:ea typeface="+mn-ea"/>
                <a:cs typeface="+mn-cs"/>
              </a:rPr>
              <a:t>Prevents parameter injection</a:t>
            </a:r>
          </a:p>
          <a:p>
            <a:r>
              <a:rPr lang="en-GB" sz="1200" b="1" kern="1200" dirty="0">
                <a:solidFill>
                  <a:schemeClr val="tx1"/>
                </a:solidFill>
                <a:effectLst/>
                <a:latin typeface="+mn-lt"/>
                <a:ea typeface="+mn-ea"/>
                <a:cs typeface="+mn-cs"/>
              </a:rPr>
              <a:t>7</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Pagination Sanitization</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Page ≥ 1, Limit ≤ max (e.g., 100)</a:t>
            </a:r>
          </a:p>
          <a:p>
            <a:r>
              <a:rPr lang="en-GB" sz="1200" kern="1200" dirty="0">
                <a:solidFill>
                  <a:schemeClr val="tx1"/>
                </a:solidFill>
                <a:effectLst/>
                <a:latin typeface="+mn-lt"/>
                <a:ea typeface="+mn-ea"/>
                <a:cs typeface="+mn-cs"/>
              </a:rPr>
              <a:t>Prevents DoS through massive queries</a:t>
            </a:r>
          </a:p>
          <a:p>
            <a:r>
              <a:rPr lang="en-GB" sz="1200" b="1" kern="1200" dirty="0">
                <a:solidFill>
                  <a:schemeClr val="tx1"/>
                </a:solidFill>
                <a:effectLst/>
                <a:latin typeface="+mn-lt"/>
                <a:ea typeface="+mn-ea"/>
                <a:cs typeface="+mn-cs"/>
              </a:rPr>
              <a:t>8</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Business Logic</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DB query limited &amp; filtered</a:t>
            </a:r>
          </a:p>
          <a:p>
            <a:r>
              <a:rPr lang="en-GB" sz="1200" kern="1200" dirty="0">
                <a:solidFill>
                  <a:schemeClr val="tx1"/>
                </a:solidFill>
                <a:effectLst/>
                <a:latin typeface="+mn-lt"/>
                <a:ea typeface="+mn-ea"/>
                <a:cs typeface="+mn-cs"/>
              </a:rPr>
              <a:t>Prevents data leakage / over-fetching</a:t>
            </a:r>
          </a:p>
          <a:p>
            <a:r>
              <a:rPr lang="en-GB" sz="1200" b="1" kern="1200" dirty="0">
                <a:solidFill>
                  <a:schemeClr val="tx1"/>
                </a:solidFill>
                <a:effectLst/>
                <a:latin typeface="+mn-lt"/>
                <a:ea typeface="+mn-ea"/>
                <a:cs typeface="+mn-cs"/>
              </a:rPr>
              <a:t>9</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Response Normalization</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Returns </a:t>
            </a:r>
            <a:r>
              <a:rPr lang="en-GB" sz="1200" kern="1200" dirty="0" err="1">
                <a:solidFill>
                  <a:schemeClr val="tx1"/>
                </a:solidFill>
                <a:effectLst/>
                <a:latin typeface="+mn-lt"/>
                <a:ea typeface="+mn-ea"/>
                <a:cs typeface="+mn-cs"/>
              </a:rPr>
              <a:t>ApiResponse</a:t>
            </a:r>
            <a:r>
              <a:rPr lang="en-GB" sz="1200" kern="1200" dirty="0">
                <a:solidFill>
                  <a:schemeClr val="tx1"/>
                </a:solidFill>
                <a:effectLst/>
                <a:latin typeface="+mn-lt"/>
                <a:ea typeface="+mn-ea"/>
                <a:cs typeface="+mn-cs"/>
              </a:rPr>
              <a:t>&lt;List&lt;Donation&gt;&gt;</a:t>
            </a:r>
          </a:p>
          <a:p>
            <a:r>
              <a:rPr lang="en-GB" sz="1200" kern="1200" dirty="0">
                <a:solidFill>
                  <a:schemeClr val="tx1"/>
                </a:solidFill>
                <a:effectLst/>
                <a:latin typeface="+mn-lt"/>
                <a:ea typeface="+mn-ea"/>
                <a:cs typeface="+mn-cs"/>
              </a:rPr>
              <a:t>Prevents raw data or </a:t>
            </a:r>
            <a:r>
              <a:rPr lang="en-GB" sz="1200" kern="1200" dirty="0" err="1">
                <a:solidFill>
                  <a:schemeClr val="tx1"/>
                </a:solidFill>
                <a:effectLst/>
                <a:latin typeface="+mn-lt"/>
                <a:ea typeface="+mn-ea"/>
                <a:cs typeface="+mn-cs"/>
              </a:rPr>
              <a:t>stacktrace</a:t>
            </a:r>
            <a:r>
              <a:rPr lang="en-GB" sz="1200" kern="1200" dirty="0">
                <a:solidFill>
                  <a:schemeClr val="tx1"/>
                </a:solidFill>
                <a:effectLst/>
                <a:latin typeface="+mn-lt"/>
                <a:ea typeface="+mn-ea"/>
                <a:cs typeface="+mn-cs"/>
              </a:rPr>
              <a:t> exposure</a:t>
            </a:r>
          </a:p>
          <a:p>
            <a:r>
              <a:rPr lang="en-GB" sz="1200" b="1" kern="1200" dirty="0">
                <a:solidFill>
                  <a:schemeClr val="tx1"/>
                </a:solidFill>
                <a:effectLst/>
                <a:latin typeface="+mn-lt"/>
                <a:ea typeface="+mn-ea"/>
                <a:cs typeface="+mn-cs"/>
              </a:rPr>
              <a:t>🧠 Result:</a:t>
            </a:r>
          </a:p>
          <a:p>
            <a:pPr lvl="0"/>
            <a:r>
              <a:rPr lang="en-GB" sz="1200" kern="1200" dirty="0">
                <a:solidFill>
                  <a:schemeClr val="tx1"/>
                </a:solidFill>
                <a:effectLst/>
                <a:latin typeface="+mn-lt"/>
                <a:ea typeface="+mn-ea"/>
                <a:cs typeface="+mn-cs"/>
              </a:rPr>
              <a:t>Unauthorized users → 401 Unauthorized</a:t>
            </a:r>
          </a:p>
          <a:p>
            <a:pPr lvl="0"/>
            <a:r>
              <a:rPr lang="en-GB" sz="1200" kern="1200" dirty="0">
                <a:solidFill>
                  <a:schemeClr val="tx1"/>
                </a:solidFill>
                <a:effectLst/>
                <a:latin typeface="+mn-lt"/>
                <a:ea typeface="+mn-ea"/>
                <a:cs typeface="+mn-cs"/>
              </a:rPr>
              <a:t>Bots or malformed headers → 400 Bad Request</a:t>
            </a:r>
          </a:p>
          <a:p>
            <a:pPr lvl="0"/>
            <a:r>
              <a:rPr lang="en-GB" sz="1200" kern="1200" dirty="0">
                <a:solidFill>
                  <a:schemeClr val="tx1"/>
                </a:solidFill>
                <a:effectLst/>
                <a:latin typeface="+mn-lt"/>
                <a:ea typeface="+mn-ea"/>
                <a:cs typeface="+mn-cs"/>
              </a:rPr>
              <a:t>Valid users → 200 OK with sanitized pagination metadata</a:t>
            </a:r>
          </a:p>
          <a:p>
            <a:br>
              <a:rPr lang="en-GB" sz="1200" kern="1200" dirty="0">
                <a:solidFill>
                  <a:schemeClr val="tx1"/>
                </a:solidFill>
                <a:effectLst/>
                <a:latin typeface="+mn-lt"/>
                <a:ea typeface="+mn-ea"/>
                <a:cs typeface="+mn-cs"/>
              </a:rPr>
            </a:b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 3. Security Checks for a </a:t>
            </a:r>
            <a:r>
              <a:rPr lang="en-GB" sz="1200" b="0" kern="1200" dirty="0">
                <a:solidFill>
                  <a:schemeClr val="tx1"/>
                </a:solidFill>
                <a:effectLst/>
                <a:latin typeface="+mn-lt"/>
                <a:ea typeface="+mn-ea"/>
                <a:cs typeface="+mn-cs"/>
              </a:rPr>
              <a:t>POST Request</a:t>
            </a:r>
            <a:endParaRPr lang="en-GB" sz="1200" b="1"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Example:</a:t>
            </a:r>
            <a:br>
              <a:rPr lang="en-GB" sz="1200" kern="1200" dirty="0">
                <a:solidFill>
                  <a:schemeClr val="tx1"/>
                </a:solidFill>
                <a:effectLst/>
                <a:latin typeface="+mn-lt"/>
                <a:ea typeface="+mn-ea"/>
                <a:cs typeface="+mn-cs"/>
              </a:rPr>
            </a:br>
            <a:r>
              <a:rPr lang="en-GB" sz="1200" kern="1200" dirty="0">
                <a:solidFill>
                  <a:schemeClr val="tx1"/>
                </a:solidFill>
                <a:effectLst/>
                <a:latin typeface="+mn-lt"/>
                <a:ea typeface="+mn-ea"/>
                <a:cs typeface="+mn-cs"/>
              </a:rPr>
              <a:t>POST /</a:t>
            </a:r>
            <a:r>
              <a:rPr lang="en-GB" sz="1200" kern="1200" dirty="0" err="1">
                <a:solidFill>
                  <a:schemeClr val="tx1"/>
                </a:solidFill>
                <a:effectLst/>
                <a:latin typeface="+mn-lt"/>
                <a:ea typeface="+mn-ea"/>
                <a:cs typeface="+mn-cs"/>
              </a:rPr>
              <a:t>api</a:t>
            </a:r>
            <a:r>
              <a:rPr lang="en-GB" sz="1200" kern="1200" dirty="0">
                <a:solidFill>
                  <a:schemeClr val="tx1"/>
                </a:solidFill>
                <a:effectLst/>
                <a:latin typeface="+mn-lt"/>
                <a:ea typeface="+mn-ea"/>
                <a:cs typeface="+mn-cs"/>
              </a:rPr>
              <a:t>/donation</a:t>
            </a:r>
          </a:p>
          <a:p>
            <a:r>
              <a:rPr lang="en-GB" sz="1200" kern="1200" dirty="0">
                <a:solidFill>
                  <a:schemeClr val="tx1"/>
                </a:solidFill>
                <a:effectLst/>
                <a:latin typeface="+mn-lt"/>
                <a:ea typeface="+mn-ea"/>
                <a:cs typeface="+mn-cs"/>
              </a:rPr>
              <a:t>{ "description": "&lt;script&gt;alert('x')&lt;/script&gt;", "amount": 25.5 }</a:t>
            </a:r>
          </a:p>
          <a:p>
            <a:r>
              <a:rPr lang="en-GB" sz="1200" b="1" kern="1200" dirty="0">
                <a:solidFill>
                  <a:schemeClr val="tx1"/>
                </a:solidFill>
                <a:effectLst/>
                <a:latin typeface="+mn-lt"/>
                <a:ea typeface="+mn-ea"/>
                <a:cs typeface="+mn-cs"/>
              </a:rPr>
              <a:t>🔐 Step-by-Step Security Evaluation</a:t>
            </a:r>
          </a:p>
          <a:p>
            <a:r>
              <a:rPr lang="en-GB" sz="1200" b="1" kern="1200" dirty="0">
                <a:solidFill>
                  <a:schemeClr val="tx1"/>
                </a:solidFill>
                <a:effectLst/>
                <a:latin typeface="+mn-lt"/>
                <a:ea typeface="+mn-ea"/>
                <a:cs typeface="+mn-cs"/>
              </a:rPr>
              <a:t>Step</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Layer</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Security Check</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Purpose</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1</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Transport Layer</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HTTPS</a:t>
            </a:r>
          </a:p>
          <a:p>
            <a:r>
              <a:rPr lang="en-GB" sz="1200" kern="1200" dirty="0">
                <a:solidFill>
                  <a:schemeClr val="tx1"/>
                </a:solidFill>
                <a:effectLst/>
                <a:latin typeface="+mn-lt"/>
                <a:ea typeface="+mn-ea"/>
                <a:cs typeface="+mn-cs"/>
              </a:rPr>
              <a:t>Encryption in transit</a:t>
            </a:r>
          </a:p>
          <a:p>
            <a:r>
              <a:rPr lang="en-GB" sz="1200" b="1" kern="1200" dirty="0">
                <a:solidFill>
                  <a:schemeClr val="tx1"/>
                </a:solidFill>
                <a:effectLst/>
                <a:latin typeface="+mn-lt"/>
                <a:ea typeface="+mn-ea"/>
                <a:cs typeface="+mn-cs"/>
              </a:rPr>
              <a:t>2</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CORS</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Origin verification</a:t>
            </a:r>
          </a:p>
          <a:p>
            <a:r>
              <a:rPr lang="en-GB" sz="1200" kern="1200" dirty="0">
                <a:solidFill>
                  <a:schemeClr val="tx1"/>
                </a:solidFill>
                <a:effectLst/>
                <a:latin typeface="+mn-lt"/>
                <a:ea typeface="+mn-ea"/>
                <a:cs typeface="+mn-cs"/>
              </a:rPr>
              <a:t>Prevents CSRF from untrusted sites</a:t>
            </a:r>
          </a:p>
          <a:p>
            <a:r>
              <a:rPr lang="en-GB" sz="1200" b="1" kern="1200" dirty="0">
                <a:solidFill>
                  <a:schemeClr val="tx1"/>
                </a:solidFill>
                <a:effectLst/>
                <a:latin typeface="+mn-lt"/>
                <a:ea typeface="+mn-ea"/>
                <a:cs typeface="+mn-cs"/>
              </a:rPr>
              <a:t>3</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JWT Authentication</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Token signature, expiration check</a:t>
            </a:r>
          </a:p>
          <a:p>
            <a:r>
              <a:rPr lang="en-GB" sz="1200" kern="1200" dirty="0">
                <a:solidFill>
                  <a:schemeClr val="tx1"/>
                </a:solidFill>
                <a:effectLst/>
                <a:latin typeface="+mn-lt"/>
                <a:ea typeface="+mn-ea"/>
                <a:cs typeface="+mn-cs"/>
              </a:rPr>
              <a:t>Ensures authenticated origin</a:t>
            </a:r>
          </a:p>
          <a:p>
            <a:r>
              <a:rPr lang="en-GB" sz="1200" b="1" kern="1200" dirty="0">
                <a:solidFill>
                  <a:schemeClr val="tx1"/>
                </a:solidFill>
                <a:effectLst/>
                <a:latin typeface="+mn-lt"/>
                <a:ea typeface="+mn-ea"/>
                <a:cs typeface="+mn-cs"/>
              </a:rPr>
              <a:t>4</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Authorization Attribute</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[Authorize]</a:t>
            </a:r>
          </a:p>
          <a:p>
            <a:r>
              <a:rPr lang="en-GB" sz="1200" kern="1200" dirty="0">
                <a:solidFill>
                  <a:schemeClr val="tx1"/>
                </a:solidFill>
                <a:effectLst/>
                <a:latin typeface="+mn-lt"/>
                <a:ea typeface="+mn-ea"/>
                <a:cs typeface="+mn-cs"/>
              </a:rPr>
              <a:t>Blocks anonymous donation creation</a:t>
            </a:r>
          </a:p>
          <a:p>
            <a:r>
              <a:rPr lang="en-GB" sz="1200" b="1" kern="1200" dirty="0">
                <a:solidFill>
                  <a:schemeClr val="tx1"/>
                </a:solidFill>
                <a:effectLst/>
                <a:latin typeface="+mn-lt"/>
                <a:ea typeface="+mn-ea"/>
                <a:cs typeface="+mn-cs"/>
              </a:rPr>
              <a:t>5</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Bot Detection Service</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User-Agent inspection</a:t>
            </a:r>
          </a:p>
          <a:p>
            <a:r>
              <a:rPr lang="en-GB" sz="1200" kern="1200" dirty="0">
                <a:solidFill>
                  <a:schemeClr val="tx1"/>
                </a:solidFill>
                <a:effectLst/>
                <a:latin typeface="+mn-lt"/>
                <a:ea typeface="+mn-ea"/>
                <a:cs typeface="+mn-cs"/>
              </a:rPr>
              <a:t>Rejects bots/spam submissions</a:t>
            </a:r>
          </a:p>
          <a:p>
            <a:r>
              <a:rPr lang="en-GB" sz="1200" b="1" kern="1200" dirty="0">
                <a:solidFill>
                  <a:schemeClr val="tx1"/>
                </a:solidFill>
                <a:effectLst/>
                <a:latin typeface="+mn-lt"/>
                <a:ea typeface="+mn-ea"/>
                <a:cs typeface="+mn-cs"/>
              </a:rPr>
              <a:t>6</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Model Binding</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Parses and validates body</a:t>
            </a:r>
          </a:p>
          <a:p>
            <a:r>
              <a:rPr lang="en-GB" sz="1200" kern="1200" dirty="0">
                <a:solidFill>
                  <a:schemeClr val="tx1"/>
                </a:solidFill>
                <a:effectLst/>
                <a:latin typeface="+mn-lt"/>
                <a:ea typeface="+mn-ea"/>
                <a:cs typeface="+mn-cs"/>
              </a:rPr>
              <a:t>Rejects malformed JSON automatically</a:t>
            </a:r>
          </a:p>
          <a:p>
            <a:r>
              <a:rPr lang="en-GB" sz="1200" b="1" kern="1200" dirty="0">
                <a:solidFill>
                  <a:schemeClr val="tx1"/>
                </a:solidFill>
                <a:effectLst/>
                <a:latin typeface="+mn-lt"/>
                <a:ea typeface="+mn-ea"/>
                <a:cs typeface="+mn-cs"/>
              </a:rPr>
              <a:t>7</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Input Sanitization</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Strips &lt;script&gt; tags</a:t>
            </a:r>
          </a:p>
          <a:p>
            <a:r>
              <a:rPr lang="en-GB" sz="1200" kern="1200" dirty="0">
                <a:solidFill>
                  <a:schemeClr val="tx1"/>
                </a:solidFill>
                <a:effectLst/>
                <a:latin typeface="+mn-lt"/>
                <a:ea typeface="+mn-ea"/>
                <a:cs typeface="+mn-cs"/>
              </a:rPr>
              <a:t>Prevents XSS payload persistence</a:t>
            </a:r>
          </a:p>
          <a:p>
            <a:r>
              <a:rPr lang="en-GB" sz="1200" b="1" kern="1200" dirty="0">
                <a:solidFill>
                  <a:schemeClr val="tx1"/>
                </a:solidFill>
                <a:effectLst/>
                <a:latin typeface="+mn-lt"/>
                <a:ea typeface="+mn-ea"/>
                <a:cs typeface="+mn-cs"/>
              </a:rPr>
              <a:t>8</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Server-side Validation</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e.g., Amount &gt; 0, required fields</a:t>
            </a:r>
          </a:p>
          <a:p>
            <a:r>
              <a:rPr lang="en-GB" sz="1200" kern="1200" dirty="0">
                <a:solidFill>
                  <a:schemeClr val="tx1"/>
                </a:solidFill>
                <a:effectLst/>
                <a:latin typeface="+mn-lt"/>
                <a:ea typeface="+mn-ea"/>
                <a:cs typeface="+mn-cs"/>
              </a:rPr>
              <a:t>Prevents logical abuse / fraud</a:t>
            </a:r>
          </a:p>
          <a:p>
            <a:r>
              <a:rPr lang="en-GB" sz="1200" b="1" kern="1200" dirty="0">
                <a:solidFill>
                  <a:schemeClr val="tx1"/>
                </a:solidFill>
                <a:effectLst/>
                <a:latin typeface="+mn-lt"/>
                <a:ea typeface="+mn-ea"/>
                <a:cs typeface="+mn-cs"/>
              </a:rPr>
              <a:t>9</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ORM-level Protection</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EF Core parameterization</a:t>
            </a:r>
          </a:p>
          <a:p>
            <a:r>
              <a:rPr lang="en-GB" sz="1200" kern="1200" dirty="0">
                <a:solidFill>
                  <a:schemeClr val="tx1"/>
                </a:solidFill>
                <a:effectLst/>
                <a:latin typeface="+mn-lt"/>
                <a:ea typeface="+mn-ea"/>
                <a:cs typeface="+mn-cs"/>
              </a:rPr>
              <a:t>Eliminates SQL injection risk</a:t>
            </a:r>
          </a:p>
          <a:p>
            <a:r>
              <a:rPr lang="en-GB" sz="1200" b="1" kern="1200" dirty="0">
                <a:solidFill>
                  <a:schemeClr val="tx1"/>
                </a:solidFill>
                <a:effectLst/>
                <a:latin typeface="+mn-lt"/>
                <a:ea typeface="+mn-ea"/>
                <a:cs typeface="+mn-cs"/>
              </a:rPr>
              <a:t>10</a:t>
            </a:r>
            <a:endParaRPr lang="en-GB" sz="1200" kern="1200" dirty="0">
              <a:solidFill>
                <a:schemeClr val="tx1"/>
              </a:solidFill>
              <a:effectLst/>
              <a:latin typeface="+mn-lt"/>
              <a:ea typeface="+mn-ea"/>
              <a:cs typeface="+mn-cs"/>
            </a:endParaRPr>
          </a:p>
          <a:p>
            <a:r>
              <a:rPr lang="en-GB" sz="1200" b="1" kern="1200" dirty="0" err="1">
                <a:solidFill>
                  <a:schemeClr val="tx1"/>
                </a:solidFill>
                <a:effectLst/>
                <a:latin typeface="+mn-lt"/>
                <a:ea typeface="+mn-ea"/>
                <a:cs typeface="+mn-cs"/>
              </a:rPr>
              <a:t>ApiResponse</a:t>
            </a:r>
            <a:r>
              <a:rPr lang="en-GB" sz="1200" b="1" kern="1200" dirty="0">
                <a:solidFill>
                  <a:schemeClr val="tx1"/>
                </a:solidFill>
                <a:effectLst/>
                <a:latin typeface="+mn-lt"/>
                <a:ea typeface="+mn-ea"/>
                <a:cs typeface="+mn-cs"/>
              </a:rPr>
              <a:t> Wrapping</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Hides internal details</a:t>
            </a:r>
          </a:p>
          <a:p>
            <a:r>
              <a:rPr lang="en-GB" sz="1200" kern="1200" dirty="0">
                <a:solidFill>
                  <a:schemeClr val="tx1"/>
                </a:solidFill>
                <a:effectLst/>
                <a:latin typeface="+mn-lt"/>
                <a:ea typeface="+mn-ea"/>
                <a:cs typeface="+mn-cs"/>
              </a:rPr>
              <a:t>Prevents leakage of stack traces</a:t>
            </a:r>
          </a:p>
          <a:p>
            <a:r>
              <a:rPr lang="en-GB" sz="1200" b="1" kern="1200" dirty="0">
                <a:solidFill>
                  <a:schemeClr val="tx1"/>
                </a:solidFill>
                <a:effectLst/>
                <a:latin typeface="+mn-lt"/>
                <a:ea typeface="+mn-ea"/>
                <a:cs typeface="+mn-cs"/>
              </a:rPr>
              <a:t>11</a:t>
            </a:r>
            <a:endParaRPr lang="en-GB" sz="1200" kern="1200" dirty="0">
              <a:solidFill>
                <a:schemeClr val="tx1"/>
              </a:solidFill>
              <a:effectLst/>
              <a:latin typeface="+mn-lt"/>
              <a:ea typeface="+mn-ea"/>
              <a:cs typeface="+mn-cs"/>
            </a:endParaRPr>
          </a:p>
          <a:p>
            <a:r>
              <a:rPr lang="en-GB" sz="1200" b="1" kern="1200" dirty="0" err="1">
                <a:solidFill>
                  <a:schemeClr val="tx1"/>
                </a:solidFill>
                <a:effectLst/>
                <a:latin typeface="+mn-lt"/>
                <a:ea typeface="+mn-ea"/>
                <a:cs typeface="+mn-cs"/>
              </a:rPr>
              <a:t>CreatedAtRoute</a:t>
            </a:r>
            <a:r>
              <a:rPr lang="en-GB" sz="1200" b="1" kern="1200" dirty="0">
                <a:solidFill>
                  <a:schemeClr val="tx1"/>
                </a:solidFill>
                <a:effectLst/>
                <a:latin typeface="+mn-lt"/>
                <a:ea typeface="+mn-ea"/>
                <a:cs typeface="+mn-cs"/>
              </a:rPr>
              <a:t>(201)</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Proper REST semantics</a:t>
            </a:r>
          </a:p>
          <a:p>
            <a:r>
              <a:rPr lang="en-GB" sz="1200" kern="1200" dirty="0">
                <a:solidFill>
                  <a:schemeClr val="tx1"/>
                </a:solidFill>
                <a:effectLst/>
                <a:latin typeface="+mn-lt"/>
                <a:ea typeface="+mn-ea"/>
                <a:cs typeface="+mn-cs"/>
              </a:rPr>
              <a:t>Confirms safe, successful insert</a:t>
            </a:r>
          </a:p>
          <a:p>
            <a:r>
              <a:rPr lang="en-GB" sz="1200" b="1" kern="1200" dirty="0">
                <a:solidFill>
                  <a:schemeClr val="tx1"/>
                </a:solidFill>
                <a:effectLst/>
                <a:latin typeface="+mn-lt"/>
                <a:ea typeface="+mn-ea"/>
                <a:cs typeface="+mn-cs"/>
              </a:rPr>
              <a:t>🧠 Result:</a:t>
            </a:r>
          </a:p>
          <a:p>
            <a:pPr lvl="0"/>
            <a:r>
              <a:rPr lang="en-GB" sz="1200" kern="1200" dirty="0">
                <a:solidFill>
                  <a:schemeClr val="tx1"/>
                </a:solidFill>
                <a:effectLst/>
                <a:latin typeface="+mn-lt"/>
                <a:ea typeface="+mn-ea"/>
                <a:cs typeface="+mn-cs"/>
              </a:rPr>
              <a:t>Bot request → 400 Bad Request + VALIDATION_ERROR</a:t>
            </a:r>
          </a:p>
          <a:p>
            <a:pPr lvl="0"/>
            <a:r>
              <a:rPr lang="en-GB" sz="1200" kern="1200" dirty="0">
                <a:solidFill>
                  <a:schemeClr val="tx1"/>
                </a:solidFill>
                <a:effectLst/>
                <a:latin typeface="+mn-lt"/>
                <a:ea typeface="+mn-ea"/>
                <a:cs typeface="+mn-cs"/>
              </a:rPr>
              <a:t>Malformed JSON → 400 Bad Request + Invalid Model</a:t>
            </a:r>
          </a:p>
          <a:p>
            <a:pPr lvl="0"/>
            <a:r>
              <a:rPr lang="en-GB" sz="1200" kern="1200" dirty="0">
                <a:solidFill>
                  <a:schemeClr val="tx1"/>
                </a:solidFill>
                <a:effectLst/>
                <a:latin typeface="+mn-lt"/>
                <a:ea typeface="+mn-ea"/>
                <a:cs typeface="+mn-cs"/>
              </a:rPr>
              <a:t>Invalid token → 401 Unauthorized</a:t>
            </a:r>
          </a:p>
          <a:p>
            <a:pPr lvl="0"/>
            <a:r>
              <a:rPr lang="en-GB" sz="1200" kern="1200" dirty="0">
                <a:solidFill>
                  <a:schemeClr val="tx1"/>
                </a:solidFill>
                <a:effectLst/>
                <a:latin typeface="+mn-lt"/>
                <a:ea typeface="+mn-ea"/>
                <a:cs typeface="+mn-cs"/>
              </a:rPr>
              <a:t>Valid user + clean input → 201 Created + Sanitized Response</a:t>
            </a:r>
          </a:p>
          <a:p>
            <a:endParaRPr lang="en-GB"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83A2505E-7E22-F146-AFE1-BE3F982D5DB9}" type="slidenum">
              <a:rPr lang="en-US" smtClean="0"/>
              <a:t>4</a:t>
            </a:fld>
            <a:endParaRPr lang="en-US"/>
          </a:p>
        </p:txBody>
      </p:sp>
    </p:spTree>
    <p:extLst>
      <p:ext uri="{BB962C8B-B14F-4D97-AF65-F5344CB8AC3E}">
        <p14:creationId xmlns:p14="http://schemas.microsoft.com/office/powerpoint/2010/main" val="27940130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a:solidFill>
                  <a:schemeClr val="tx1"/>
                </a:solidFill>
                <a:effectLst/>
                <a:latin typeface="+mn-lt"/>
                <a:ea typeface="+mn-ea"/>
                <a:cs typeface="+mn-cs"/>
              </a:rPr>
              <a:t>The Command Query Responsibility Segregation (CQRS) design pattern separates the operations that modify data (commands) from the operations that retrieve data (queries). This segregation allows for independent optimization and scaling of read and write operations within an application.</a:t>
            </a:r>
            <a:br>
              <a:rPr lang="en-GB" sz="1200" b="0" i="0" kern="1200" dirty="0">
                <a:solidFill>
                  <a:schemeClr val="tx1"/>
                </a:solidFill>
                <a:effectLst/>
                <a:latin typeface="+mn-lt"/>
                <a:ea typeface="+mn-ea"/>
                <a:cs typeface="+mn-cs"/>
              </a:rPr>
            </a:br>
            <a:r>
              <a:rPr lang="en-GB" sz="1200" b="0" i="0" kern="1200" dirty="0">
                <a:solidFill>
                  <a:schemeClr val="tx1"/>
                </a:solidFill>
                <a:effectLst/>
                <a:latin typeface="+mn-lt"/>
                <a:ea typeface="+mn-ea"/>
                <a:cs typeface="+mn-cs"/>
              </a:rPr>
              <a:t>Benefits of CQRS:</a:t>
            </a:r>
          </a:p>
          <a:p>
            <a:r>
              <a:rPr lang="en-GB" sz="1200" b="1" i="0" kern="1200" dirty="0">
                <a:solidFill>
                  <a:schemeClr val="tx1"/>
                </a:solidFill>
                <a:effectLst/>
                <a:latin typeface="+mn-lt"/>
                <a:ea typeface="+mn-ea"/>
                <a:cs typeface="+mn-cs"/>
              </a:rPr>
              <a:t>Improved Performance and Scalability:</a:t>
            </a:r>
            <a:r>
              <a:rPr lang="en-GB" sz="1200" b="0" i="0" kern="1200" dirty="0">
                <a:solidFill>
                  <a:schemeClr val="tx1"/>
                </a:solidFill>
                <a:effectLst/>
                <a:latin typeface="+mn-lt"/>
                <a:ea typeface="+mn-ea"/>
                <a:cs typeface="+mn-cs"/>
              </a:rPr>
              <a:t> </a:t>
            </a:r>
          </a:p>
          <a:p>
            <a:r>
              <a:rPr lang="en-GB" sz="1200" b="0" i="0" kern="1200" dirty="0">
                <a:solidFill>
                  <a:schemeClr val="tx1"/>
                </a:solidFill>
                <a:effectLst/>
                <a:latin typeface="+mn-lt"/>
                <a:ea typeface="+mn-ea"/>
                <a:cs typeface="+mn-cs"/>
              </a:rPr>
              <a:t>Optimizing and scaling read and write operations independently can lead to better overall system performance.</a:t>
            </a:r>
          </a:p>
          <a:p>
            <a:r>
              <a:rPr lang="en-GB" sz="1200" b="1" i="0" kern="1200" dirty="0">
                <a:solidFill>
                  <a:schemeClr val="tx1"/>
                </a:solidFill>
                <a:effectLst/>
                <a:latin typeface="+mn-lt"/>
                <a:ea typeface="+mn-ea"/>
                <a:cs typeface="+mn-cs"/>
              </a:rPr>
              <a:t>Enhanced Security:</a:t>
            </a:r>
            <a:r>
              <a:rPr lang="en-GB" sz="1200" b="0" i="0" kern="1200" dirty="0">
                <a:solidFill>
                  <a:schemeClr val="tx1"/>
                </a:solidFill>
                <a:effectLst/>
                <a:latin typeface="+mn-lt"/>
                <a:ea typeface="+mn-ea"/>
                <a:cs typeface="+mn-cs"/>
              </a:rPr>
              <a:t> </a:t>
            </a:r>
          </a:p>
          <a:p>
            <a:r>
              <a:rPr lang="en-GB" sz="1200" b="0" i="0" kern="1200" dirty="0">
                <a:solidFill>
                  <a:schemeClr val="tx1"/>
                </a:solidFill>
                <a:effectLst/>
                <a:latin typeface="+mn-lt"/>
                <a:ea typeface="+mn-ea"/>
                <a:cs typeface="+mn-cs"/>
              </a:rPr>
              <a:t>Different security policies can be applied to commands and queries, providing finer-grained access control.</a:t>
            </a:r>
          </a:p>
          <a:p>
            <a:r>
              <a:rPr lang="en-GB" sz="1200" b="1" i="0" kern="1200" dirty="0">
                <a:solidFill>
                  <a:schemeClr val="tx1"/>
                </a:solidFill>
                <a:effectLst/>
                <a:latin typeface="+mn-lt"/>
                <a:ea typeface="+mn-ea"/>
                <a:cs typeface="+mn-cs"/>
              </a:rPr>
              <a:t>Increased Flexibility:</a:t>
            </a:r>
            <a:r>
              <a:rPr lang="en-GB" sz="1200" b="0" i="0" kern="1200" dirty="0">
                <a:solidFill>
                  <a:schemeClr val="tx1"/>
                </a:solidFill>
                <a:effectLst/>
                <a:latin typeface="+mn-lt"/>
                <a:ea typeface="+mn-ea"/>
                <a:cs typeface="+mn-cs"/>
              </a:rPr>
              <a:t> </a:t>
            </a:r>
          </a:p>
          <a:p>
            <a:r>
              <a:rPr lang="en-GB" sz="1200" b="0" i="0" kern="1200" dirty="0">
                <a:solidFill>
                  <a:schemeClr val="tx1"/>
                </a:solidFill>
                <a:effectLst/>
                <a:latin typeface="+mn-lt"/>
                <a:ea typeface="+mn-ea"/>
                <a:cs typeface="+mn-cs"/>
              </a:rPr>
              <a:t>Allows for the use of different data storage technologies and optimization strategies for reads and writes.</a:t>
            </a:r>
          </a:p>
          <a:p>
            <a:r>
              <a:rPr lang="en-GB" sz="1200" b="1" i="0" kern="1200" dirty="0">
                <a:solidFill>
                  <a:schemeClr val="tx1"/>
                </a:solidFill>
                <a:effectLst/>
                <a:latin typeface="+mn-lt"/>
                <a:ea typeface="+mn-ea"/>
                <a:cs typeface="+mn-cs"/>
              </a:rPr>
              <a:t>Clearer Separation of Concerns:</a:t>
            </a:r>
            <a:r>
              <a:rPr lang="en-GB" sz="1200" b="0" i="0" kern="1200" dirty="0">
                <a:solidFill>
                  <a:schemeClr val="tx1"/>
                </a:solidFill>
                <a:effectLst/>
                <a:latin typeface="+mn-lt"/>
                <a:ea typeface="+mn-ea"/>
                <a:cs typeface="+mn-cs"/>
              </a:rPr>
              <a:t> </a:t>
            </a:r>
          </a:p>
          <a:p>
            <a:r>
              <a:rPr lang="en-GB" sz="1200" b="0" i="0" kern="1200" dirty="0">
                <a:solidFill>
                  <a:schemeClr val="tx1"/>
                </a:solidFill>
                <a:effectLst/>
                <a:latin typeface="+mn-lt"/>
                <a:ea typeface="+mn-ea"/>
                <a:cs typeface="+mn-cs"/>
              </a:rPr>
              <a:t>Promotes a cleaner architecture by distinctly separating the responsibilities of data modification and data retrieval.</a:t>
            </a:r>
          </a:p>
          <a:p>
            <a:r>
              <a:rPr lang="en-GB" sz="1200" b="0" i="0" kern="1200" dirty="0">
                <a:solidFill>
                  <a:schemeClr val="tx1"/>
                </a:solidFill>
                <a:effectLst/>
                <a:latin typeface="+mn-lt"/>
                <a:ea typeface="+mn-ea"/>
                <a:cs typeface="+mn-cs"/>
              </a:rPr>
              <a:t>React-Query</a:t>
            </a:r>
          </a:p>
          <a:p>
            <a:r>
              <a:rPr lang="en-GB" sz="1200" b="0" i="0" kern="1200" dirty="0">
                <a:solidFill>
                  <a:schemeClr val="tx1"/>
                </a:solidFill>
                <a:effectLst/>
                <a:latin typeface="+mn-lt"/>
                <a:ea typeface="+mn-ea"/>
                <a:cs typeface="+mn-cs"/>
              </a:rPr>
              <a:t>In essence, React Query allows developers to declaratively manage server state, letting them focus on building application features while the library handles the underlying complexities of data management.</a:t>
            </a:r>
          </a:p>
          <a:p>
            <a:r>
              <a:rPr lang="en-GB" sz="1200" b="1" i="0" kern="1200" dirty="0">
                <a:solidFill>
                  <a:schemeClr val="tx1"/>
                </a:solidFill>
                <a:effectLst/>
                <a:latin typeface="+mn-lt"/>
                <a:ea typeface="+mn-ea"/>
                <a:cs typeface="+mn-cs"/>
              </a:rPr>
              <a:t>Simplifies Data Fetching:</a:t>
            </a:r>
            <a:r>
              <a:rPr lang="en-GB" sz="1200" b="0" i="0" kern="1200" dirty="0">
                <a:solidFill>
                  <a:schemeClr val="tx1"/>
                </a:solidFill>
                <a:effectLst/>
                <a:latin typeface="+mn-lt"/>
                <a:ea typeface="+mn-ea"/>
                <a:cs typeface="+mn-cs"/>
              </a:rPr>
              <a:t> </a:t>
            </a:r>
          </a:p>
          <a:p>
            <a:r>
              <a:rPr lang="en-GB" sz="1200" b="0" i="0" kern="1200" dirty="0">
                <a:solidFill>
                  <a:schemeClr val="tx1"/>
                </a:solidFill>
                <a:effectLst/>
                <a:latin typeface="+mn-lt"/>
                <a:ea typeface="+mn-ea"/>
                <a:cs typeface="+mn-cs"/>
              </a:rPr>
              <a:t>It abstracts away the boilerplate code often needed for data fetching, such as managing loading states, error states, and data storage with </a:t>
            </a:r>
            <a:r>
              <a:rPr lang="en-GB" sz="1200" b="0" i="0" kern="1200" dirty="0" err="1">
                <a:solidFill>
                  <a:schemeClr val="tx1"/>
                </a:solidFill>
                <a:effectLst/>
                <a:latin typeface="+mn-lt"/>
                <a:ea typeface="+mn-ea"/>
                <a:cs typeface="+mn-cs"/>
              </a:rPr>
              <a:t>useState</a:t>
            </a:r>
            <a:r>
              <a:rPr lang="en-GB" sz="1200" b="0" i="0" kern="1200" dirty="0">
                <a:solidFill>
                  <a:schemeClr val="tx1"/>
                </a:solidFill>
                <a:effectLst/>
                <a:latin typeface="+mn-lt"/>
                <a:ea typeface="+mn-ea"/>
                <a:cs typeface="+mn-cs"/>
              </a:rPr>
              <a:t> and </a:t>
            </a:r>
            <a:r>
              <a:rPr lang="en-GB" sz="1200" b="0" i="0" kern="1200" dirty="0" err="1">
                <a:solidFill>
                  <a:schemeClr val="tx1"/>
                </a:solidFill>
                <a:effectLst/>
                <a:latin typeface="+mn-lt"/>
                <a:ea typeface="+mn-ea"/>
                <a:cs typeface="+mn-cs"/>
              </a:rPr>
              <a:t>useEffect</a:t>
            </a:r>
            <a:r>
              <a:rPr lang="en-GB" sz="1200" b="0" i="0" kern="1200" dirty="0">
                <a:solidFill>
                  <a:schemeClr val="tx1"/>
                </a:solidFill>
                <a:effectLst/>
                <a:latin typeface="+mn-lt"/>
                <a:ea typeface="+mn-ea"/>
                <a:cs typeface="+mn-cs"/>
              </a:rPr>
              <a:t>.</a:t>
            </a:r>
          </a:p>
          <a:p>
            <a:r>
              <a:rPr lang="en-GB" sz="1200" b="1" i="0" kern="1200" dirty="0">
                <a:solidFill>
                  <a:schemeClr val="tx1"/>
                </a:solidFill>
                <a:effectLst/>
                <a:latin typeface="+mn-lt"/>
                <a:ea typeface="+mn-ea"/>
                <a:cs typeface="+mn-cs"/>
              </a:rPr>
              <a:t>Automatic Caching:</a:t>
            </a:r>
            <a:r>
              <a:rPr lang="en-GB" sz="1200" b="0" i="0" kern="1200" dirty="0">
                <a:solidFill>
                  <a:schemeClr val="tx1"/>
                </a:solidFill>
                <a:effectLst/>
                <a:latin typeface="+mn-lt"/>
                <a:ea typeface="+mn-ea"/>
                <a:cs typeface="+mn-cs"/>
              </a:rPr>
              <a:t> </a:t>
            </a:r>
          </a:p>
          <a:p>
            <a:r>
              <a:rPr lang="en-GB" sz="1200" b="0" i="0" kern="1200" dirty="0">
                <a:solidFill>
                  <a:schemeClr val="tx1"/>
                </a:solidFill>
                <a:effectLst/>
                <a:latin typeface="+mn-lt"/>
                <a:ea typeface="+mn-ea"/>
                <a:cs typeface="+mn-cs"/>
              </a:rPr>
              <a:t>React Query automatically caches fetched data, reducing the need for repeated network requests and improving application performance. It also handles background </a:t>
            </a:r>
            <a:r>
              <a:rPr lang="en-GB" sz="1200" b="0" i="0" kern="1200" dirty="0" err="1">
                <a:solidFill>
                  <a:schemeClr val="tx1"/>
                </a:solidFill>
                <a:effectLst/>
                <a:latin typeface="+mn-lt"/>
                <a:ea typeface="+mn-ea"/>
                <a:cs typeface="+mn-cs"/>
              </a:rPr>
              <a:t>refetching</a:t>
            </a:r>
            <a:r>
              <a:rPr lang="en-GB" sz="1200" b="0" i="0" kern="1200" dirty="0">
                <a:solidFill>
                  <a:schemeClr val="tx1"/>
                </a:solidFill>
                <a:effectLst/>
                <a:latin typeface="+mn-lt"/>
                <a:ea typeface="+mn-ea"/>
                <a:cs typeface="+mn-cs"/>
              </a:rPr>
              <a:t> to keep data fresh.</a:t>
            </a:r>
          </a:p>
          <a:p>
            <a:r>
              <a:rPr lang="en-GB" sz="1200" b="1" i="0" kern="1200" dirty="0">
                <a:solidFill>
                  <a:schemeClr val="tx1"/>
                </a:solidFill>
                <a:effectLst/>
                <a:latin typeface="+mn-lt"/>
                <a:ea typeface="+mn-ea"/>
                <a:cs typeface="+mn-cs"/>
              </a:rPr>
              <a:t>Server State Management:</a:t>
            </a:r>
            <a:r>
              <a:rPr lang="en-GB" sz="1200" b="0" i="0" kern="1200" dirty="0">
                <a:solidFill>
                  <a:schemeClr val="tx1"/>
                </a:solidFill>
                <a:effectLst/>
                <a:latin typeface="+mn-lt"/>
                <a:ea typeface="+mn-ea"/>
                <a:cs typeface="+mn-cs"/>
              </a:rPr>
              <a:t> </a:t>
            </a:r>
          </a:p>
          <a:p>
            <a:r>
              <a:rPr lang="en-GB" sz="1200" b="0" i="0" kern="1200" dirty="0">
                <a:solidFill>
                  <a:schemeClr val="tx1"/>
                </a:solidFill>
                <a:effectLst/>
                <a:latin typeface="+mn-lt"/>
                <a:ea typeface="+mn-ea"/>
                <a:cs typeface="+mn-cs"/>
              </a:rPr>
              <a:t>Unlike client-side state management libraries (like Redux or Context API), React Query focuses specifically on server state, which involves asynchronous operations, caching, and synchronization with a remote source.</a:t>
            </a:r>
          </a:p>
          <a:p>
            <a:r>
              <a:rPr lang="en-GB" sz="1200" b="1" i="0" kern="1200" dirty="0">
                <a:solidFill>
                  <a:schemeClr val="tx1"/>
                </a:solidFill>
                <a:effectLst/>
                <a:latin typeface="+mn-lt"/>
                <a:ea typeface="+mn-ea"/>
                <a:cs typeface="+mn-cs"/>
              </a:rPr>
              <a:t>Hooks for Interaction:</a:t>
            </a:r>
            <a:r>
              <a:rPr lang="en-GB" sz="1200" b="0" i="0" kern="1200" dirty="0">
                <a:solidFill>
                  <a:schemeClr val="tx1"/>
                </a:solidFill>
                <a:effectLst/>
                <a:latin typeface="+mn-lt"/>
                <a:ea typeface="+mn-ea"/>
                <a:cs typeface="+mn-cs"/>
              </a:rPr>
              <a:t> </a:t>
            </a:r>
          </a:p>
          <a:p>
            <a:r>
              <a:rPr lang="en-GB" sz="1200" b="0" i="0" kern="1200" dirty="0">
                <a:solidFill>
                  <a:schemeClr val="tx1"/>
                </a:solidFill>
                <a:effectLst/>
                <a:latin typeface="+mn-lt"/>
                <a:ea typeface="+mn-ea"/>
                <a:cs typeface="+mn-cs"/>
              </a:rPr>
              <a:t>It provides intuitive hooks like </a:t>
            </a:r>
            <a:r>
              <a:rPr lang="en-GB" sz="1200" b="0" i="0" kern="1200" dirty="0" err="1">
                <a:solidFill>
                  <a:schemeClr val="tx1"/>
                </a:solidFill>
                <a:effectLst/>
                <a:latin typeface="+mn-lt"/>
                <a:ea typeface="+mn-ea"/>
                <a:cs typeface="+mn-cs"/>
              </a:rPr>
              <a:t>useQuery</a:t>
            </a:r>
            <a:r>
              <a:rPr lang="en-GB" sz="1200" b="0" i="0" kern="1200" dirty="0">
                <a:solidFill>
                  <a:schemeClr val="tx1"/>
                </a:solidFill>
                <a:effectLst/>
                <a:latin typeface="+mn-lt"/>
                <a:ea typeface="+mn-ea"/>
                <a:cs typeface="+mn-cs"/>
              </a:rPr>
              <a:t> for fetching data and </a:t>
            </a:r>
            <a:r>
              <a:rPr lang="en-GB" sz="1200" b="0" i="0" kern="1200" dirty="0" err="1">
                <a:solidFill>
                  <a:schemeClr val="tx1"/>
                </a:solidFill>
                <a:effectLst/>
                <a:latin typeface="+mn-lt"/>
                <a:ea typeface="+mn-ea"/>
                <a:cs typeface="+mn-cs"/>
              </a:rPr>
              <a:t>useMutation</a:t>
            </a:r>
            <a:r>
              <a:rPr lang="en-GB" sz="1200" b="0" i="0" kern="1200" dirty="0">
                <a:solidFill>
                  <a:schemeClr val="tx1"/>
                </a:solidFill>
                <a:effectLst/>
                <a:latin typeface="+mn-lt"/>
                <a:ea typeface="+mn-ea"/>
                <a:cs typeface="+mn-cs"/>
              </a:rPr>
              <a:t> for creating, updating, or deleting data, making it easy to interact with the library's capabilities.</a:t>
            </a:r>
          </a:p>
          <a:p>
            <a:r>
              <a:rPr lang="en-GB" sz="1200" b="1" i="0" kern="1200" dirty="0">
                <a:solidFill>
                  <a:schemeClr val="tx1"/>
                </a:solidFill>
                <a:effectLst/>
                <a:latin typeface="+mn-lt"/>
                <a:ea typeface="+mn-ea"/>
                <a:cs typeface="+mn-cs"/>
              </a:rPr>
              <a:t>Handles Complex Scenarios:</a:t>
            </a:r>
            <a:r>
              <a:rPr lang="en-GB" sz="1200" b="0" i="0" kern="1200" dirty="0">
                <a:solidFill>
                  <a:schemeClr val="tx1"/>
                </a:solidFill>
                <a:effectLst/>
                <a:latin typeface="+mn-lt"/>
                <a:ea typeface="+mn-ea"/>
                <a:cs typeface="+mn-cs"/>
              </a:rPr>
              <a:t> </a:t>
            </a:r>
          </a:p>
          <a:p>
            <a:r>
              <a:rPr lang="en-GB" sz="1200" b="0" i="0" kern="1200" dirty="0">
                <a:solidFill>
                  <a:schemeClr val="tx1"/>
                </a:solidFill>
                <a:effectLst/>
                <a:latin typeface="+mn-lt"/>
                <a:ea typeface="+mn-ea"/>
                <a:cs typeface="+mn-cs"/>
              </a:rPr>
              <a:t>React Query offers robust solutions for advanced scenarios such as pagination, infinite scrolling, and optimistic updates.</a:t>
            </a:r>
          </a:p>
          <a:p>
            <a:r>
              <a:rPr lang="en-GB" sz="1200" b="1" i="0" kern="1200" dirty="0">
                <a:solidFill>
                  <a:schemeClr val="tx1"/>
                </a:solidFill>
                <a:effectLst/>
                <a:latin typeface="+mn-lt"/>
                <a:ea typeface="+mn-ea"/>
                <a:cs typeface="+mn-cs"/>
              </a:rPr>
              <a:t>Improved User Experience:</a:t>
            </a:r>
            <a:r>
              <a:rPr lang="en-GB" sz="1200" b="0" i="0" kern="1200" dirty="0">
                <a:solidFill>
                  <a:schemeClr val="tx1"/>
                </a:solidFill>
                <a:effectLst/>
                <a:latin typeface="+mn-lt"/>
                <a:ea typeface="+mn-ea"/>
                <a:cs typeface="+mn-cs"/>
              </a:rPr>
              <a:t> </a:t>
            </a:r>
          </a:p>
          <a:p>
            <a:r>
              <a:rPr lang="en-GB" sz="1200" b="0" i="0" kern="1200" dirty="0">
                <a:solidFill>
                  <a:schemeClr val="tx1"/>
                </a:solidFill>
                <a:effectLst/>
                <a:latin typeface="+mn-lt"/>
                <a:ea typeface="+mn-ea"/>
                <a:cs typeface="+mn-cs"/>
              </a:rPr>
              <a:t>By efficiently managing data fetching and caching, it makes applications feel faster and more responsive to users.</a:t>
            </a:r>
          </a:p>
          <a:p>
            <a:r>
              <a:rPr lang="en-GB" sz="1200" b="1" i="0" kern="1200" dirty="0">
                <a:solidFill>
                  <a:schemeClr val="tx1"/>
                </a:solidFill>
                <a:effectLst/>
                <a:latin typeface="+mn-lt"/>
                <a:ea typeface="+mn-ea"/>
                <a:cs typeface="+mn-cs"/>
              </a:rPr>
              <a:t>Reduced Code Complexity:</a:t>
            </a:r>
            <a:r>
              <a:rPr lang="en-GB" sz="1200" b="0" i="0" kern="1200" dirty="0">
                <a:solidFill>
                  <a:schemeClr val="tx1"/>
                </a:solidFill>
                <a:effectLst/>
                <a:latin typeface="+mn-lt"/>
                <a:ea typeface="+mn-ea"/>
                <a:cs typeface="+mn-cs"/>
              </a:rPr>
              <a:t> </a:t>
            </a:r>
          </a:p>
          <a:p>
            <a:r>
              <a:rPr lang="en-GB" sz="1200" b="0" i="0" kern="1200" dirty="0">
                <a:solidFill>
                  <a:schemeClr val="tx1"/>
                </a:solidFill>
                <a:effectLst/>
                <a:latin typeface="+mn-lt"/>
                <a:ea typeface="+mn-ea"/>
                <a:cs typeface="+mn-cs"/>
              </a:rPr>
              <a:t>It helps eliminate repetitive and error-prone code related to data fetching and state management, leading to more maintainable applications.</a:t>
            </a:r>
          </a:p>
          <a:p>
            <a:br>
              <a:rPr lang="en-GB" sz="1200" b="0" i="0" kern="1200" dirty="0">
                <a:solidFill>
                  <a:schemeClr val="tx1"/>
                </a:solidFill>
                <a:effectLst/>
                <a:latin typeface="+mn-lt"/>
                <a:ea typeface="+mn-ea"/>
                <a:cs typeface="+mn-cs"/>
              </a:rPr>
            </a:br>
            <a:br>
              <a:rPr lang="en-GB" sz="1200" b="0" i="0" kern="1200" dirty="0">
                <a:solidFill>
                  <a:schemeClr val="tx1"/>
                </a:solidFill>
                <a:effectLst/>
                <a:latin typeface="+mn-lt"/>
                <a:ea typeface="+mn-ea"/>
                <a:cs typeface="+mn-cs"/>
              </a:rPr>
            </a:br>
            <a:r>
              <a:rPr lang="en-GB" sz="1200" b="0" i="0" kern="1200" dirty="0">
                <a:solidFill>
                  <a:schemeClr val="tx1"/>
                </a:solidFill>
                <a:effectLst/>
                <a:latin typeface="+mn-lt"/>
                <a:ea typeface="+mn-ea"/>
                <a:cs typeface="+mn-cs"/>
              </a:rPr>
              <a:t>READ REPLICA</a:t>
            </a:r>
            <a:br>
              <a:rPr lang="en-GB" sz="1200" b="0" i="0" kern="1200" dirty="0">
                <a:solidFill>
                  <a:schemeClr val="tx1"/>
                </a:solidFill>
                <a:effectLst/>
                <a:latin typeface="+mn-lt"/>
                <a:ea typeface="+mn-ea"/>
                <a:cs typeface="+mn-cs"/>
              </a:rPr>
            </a:br>
            <a:r>
              <a:rPr lang="en-GB" sz="1200" b="0" i="0" kern="1200" dirty="0">
                <a:solidFill>
                  <a:schemeClr val="tx1"/>
                </a:solidFill>
                <a:effectLst/>
                <a:latin typeface="+mn-lt"/>
                <a:ea typeface="+mn-ea"/>
                <a:cs typeface="+mn-cs"/>
              </a:rPr>
              <a:t>A read replica is a read-only copy of a primary database that is used to improve performance and availability. It offloads read-heavy workloads from the primary database, preventing it from becoming overwhelmed and allowing it to focus on write operations. Data is replicated from the primary to the replica in near real-time, though there may be a slight delay.  </a:t>
            </a:r>
          </a:p>
          <a:p>
            <a:r>
              <a:rPr lang="en-GB" sz="1200" b="0" i="0" kern="1200" dirty="0">
                <a:solidFill>
                  <a:schemeClr val="tx1"/>
                </a:solidFill>
                <a:effectLst/>
                <a:latin typeface="+mn-lt"/>
                <a:ea typeface="+mn-ea"/>
                <a:cs typeface="+mn-cs"/>
              </a:rPr>
              <a:t>Key functions and benefits</a:t>
            </a:r>
          </a:p>
          <a:p>
            <a:r>
              <a:rPr lang="en-GB" sz="1200" b="1" i="0" kern="1200" dirty="0">
                <a:solidFill>
                  <a:schemeClr val="tx1"/>
                </a:solidFill>
                <a:effectLst/>
                <a:latin typeface="+mn-lt"/>
                <a:ea typeface="+mn-ea"/>
                <a:cs typeface="+mn-cs"/>
              </a:rPr>
              <a:t>Scalability</a:t>
            </a:r>
            <a:r>
              <a:rPr lang="en-GB" sz="1200" b="0" i="0" kern="1200" dirty="0">
                <a:solidFill>
                  <a:schemeClr val="tx1"/>
                </a:solidFill>
                <a:effectLst/>
                <a:latin typeface="+mn-lt"/>
                <a:ea typeface="+mn-ea"/>
                <a:cs typeface="+mn-cs"/>
              </a:rPr>
              <a:t>: </a:t>
            </a:r>
          </a:p>
          <a:p>
            <a:r>
              <a:rPr lang="en-GB" sz="1200" b="0" i="0" kern="1200" dirty="0">
                <a:solidFill>
                  <a:schemeClr val="tx1"/>
                </a:solidFill>
                <a:effectLst/>
                <a:latin typeface="+mn-lt"/>
                <a:ea typeface="+mn-ea"/>
                <a:cs typeface="+mn-cs"/>
              </a:rPr>
              <a:t>Read replicas allow you to scale out read capacity beyond the limits of a single database instance. </a:t>
            </a:r>
          </a:p>
          <a:p>
            <a:r>
              <a:rPr lang="en-GB" sz="1200" b="1" i="0" kern="1200" dirty="0">
                <a:solidFill>
                  <a:schemeClr val="tx1"/>
                </a:solidFill>
                <a:effectLst/>
                <a:latin typeface="+mn-lt"/>
                <a:ea typeface="+mn-ea"/>
                <a:cs typeface="+mn-cs"/>
              </a:rPr>
              <a:t>Performance</a:t>
            </a:r>
            <a:r>
              <a:rPr lang="en-GB" sz="1200" b="0" i="0" kern="1200" dirty="0">
                <a:solidFill>
                  <a:schemeClr val="tx1"/>
                </a:solidFill>
                <a:effectLst/>
                <a:latin typeface="+mn-lt"/>
                <a:ea typeface="+mn-ea"/>
                <a:cs typeface="+mn-cs"/>
              </a:rPr>
              <a:t>: </a:t>
            </a:r>
          </a:p>
          <a:p>
            <a:r>
              <a:rPr lang="en-GB" sz="1200" b="0" i="0" kern="1200" dirty="0">
                <a:solidFill>
                  <a:schemeClr val="tx1"/>
                </a:solidFill>
                <a:effectLst/>
                <a:latin typeface="+mn-lt"/>
                <a:ea typeface="+mn-ea"/>
                <a:cs typeface="+mn-cs"/>
              </a:rPr>
              <a:t>By directing read-intensive queries to the replica, you can reduce the load on the primary database and decrease query latency. </a:t>
            </a:r>
          </a:p>
          <a:p>
            <a:r>
              <a:rPr lang="en-GB" sz="1200" b="1" i="0" kern="1200" dirty="0">
                <a:solidFill>
                  <a:schemeClr val="tx1"/>
                </a:solidFill>
                <a:effectLst/>
                <a:latin typeface="+mn-lt"/>
                <a:ea typeface="+mn-ea"/>
                <a:cs typeface="+mn-cs"/>
              </a:rPr>
              <a:t>Availability</a:t>
            </a:r>
            <a:r>
              <a:rPr lang="en-GB" sz="1200" b="0" i="0" kern="1200" dirty="0">
                <a:solidFill>
                  <a:schemeClr val="tx1"/>
                </a:solidFill>
                <a:effectLst/>
                <a:latin typeface="+mn-lt"/>
                <a:ea typeface="+mn-ea"/>
                <a:cs typeface="+mn-cs"/>
              </a:rPr>
              <a:t>: </a:t>
            </a:r>
          </a:p>
          <a:p>
            <a:r>
              <a:rPr lang="en-GB" sz="1200" b="0" i="0" kern="1200" dirty="0">
                <a:solidFill>
                  <a:schemeClr val="tx1"/>
                </a:solidFill>
                <a:effectLst/>
                <a:latin typeface="+mn-lt"/>
                <a:ea typeface="+mn-ea"/>
                <a:cs typeface="+mn-cs"/>
              </a:rPr>
              <a:t>Read replicas can be promoted to become a new primary instance in case of a primary database failure, providing a high-availability solution. They can also be placed in a different availability zone or region to improve resilience against outages. </a:t>
            </a:r>
          </a:p>
          <a:p>
            <a:r>
              <a:rPr lang="en-GB" sz="1200" b="1" i="0" kern="1200" dirty="0">
                <a:solidFill>
                  <a:schemeClr val="tx1"/>
                </a:solidFill>
                <a:effectLst/>
                <a:latin typeface="+mn-lt"/>
                <a:ea typeface="+mn-ea"/>
                <a:cs typeface="+mn-cs"/>
              </a:rPr>
              <a:t>Offloading analytics</a:t>
            </a:r>
            <a:r>
              <a:rPr lang="en-GB" sz="1200" b="0" i="0" kern="1200" dirty="0">
                <a:solidFill>
                  <a:schemeClr val="tx1"/>
                </a:solidFill>
                <a:effectLst/>
                <a:latin typeface="+mn-lt"/>
                <a:ea typeface="+mn-ea"/>
                <a:cs typeface="+mn-cs"/>
              </a:rPr>
              <a:t>: </a:t>
            </a:r>
          </a:p>
          <a:p>
            <a:r>
              <a:rPr lang="en-GB" sz="1200" b="0" i="0" kern="1200" dirty="0">
                <a:solidFill>
                  <a:schemeClr val="tx1"/>
                </a:solidFill>
                <a:effectLst/>
                <a:latin typeface="+mn-lt"/>
                <a:ea typeface="+mn-ea"/>
                <a:cs typeface="+mn-cs"/>
              </a:rPr>
              <a:t>Complex queries or analytical tasks can be run on read replicas without impacting the performance of the main transactional database. </a:t>
            </a:r>
          </a:p>
          <a:p>
            <a:r>
              <a:rPr lang="en-GB" sz="1200" b="1" i="0" kern="1200" dirty="0">
                <a:solidFill>
                  <a:schemeClr val="tx1"/>
                </a:solidFill>
                <a:effectLst/>
                <a:latin typeface="+mn-lt"/>
                <a:ea typeface="+mn-ea"/>
                <a:cs typeface="+mn-cs"/>
              </a:rPr>
              <a:t>Data redundancy</a:t>
            </a:r>
            <a:r>
              <a:rPr lang="en-GB" sz="1200" b="0" i="0" kern="1200" dirty="0">
                <a:solidFill>
                  <a:schemeClr val="tx1"/>
                </a:solidFill>
                <a:effectLst/>
                <a:latin typeface="+mn-lt"/>
                <a:ea typeface="+mn-ea"/>
                <a:cs typeface="+mn-cs"/>
              </a:rPr>
              <a:t>: </a:t>
            </a:r>
          </a:p>
          <a:p>
            <a:r>
              <a:rPr lang="en-GB" sz="1200" b="0" i="0" kern="1200" dirty="0">
                <a:solidFill>
                  <a:schemeClr val="tx1"/>
                </a:solidFill>
                <a:effectLst/>
                <a:latin typeface="+mn-lt"/>
                <a:ea typeface="+mn-ea"/>
                <a:cs typeface="+mn-cs"/>
              </a:rPr>
              <a:t>They provide an extra layer of data redundancy, as they are an exact copy of the primary database. </a:t>
            </a:r>
          </a:p>
          <a:p>
            <a:r>
              <a:rPr lang="en-GB" sz="1200" b="0" i="0" kern="1200" dirty="0">
                <a:solidFill>
                  <a:schemeClr val="tx1"/>
                </a:solidFill>
                <a:effectLst/>
                <a:latin typeface="+mn-lt"/>
                <a:ea typeface="+mn-ea"/>
                <a:cs typeface="+mn-cs"/>
              </a:rPr>
              <a:t>How it works</a:t>
            </a:r>
          </a:p>
          <a:p>
            <a:r>
              <a:rPr lang="en-GB" sz="1200" b="1" i="0" kern="1200" dirty="0">
                <a:solidFill>
                  <a:schemeClr val="tx1"/>
                </a:solidFill>
                <a:effectLst/>
                <a:latin typeface="+mn-lt"/>
                <a:ea typeface="+mn-ea"/>
                <a:cs typeface="+mn-cs"/>
              </a:rPr>
              <a:t>Replication</a:t>
            </a:r>
            <a:r>
              <a:rPr lang="en-GB" sz="1200" b="0" i="0" kern="1200" dirty="0">
                <a:solidFill>
                  <a:schemeClr val="tx1"/>
                </a:solidFill>
                <a:effectLst/>
                <a:latin typeface="+mn-lt"/>
                <a:ea typeface="+mn-ea"/>
                <a:cs typeface="+mn-cs"/>
              </a:rPr>
              <a:t>: </a:t>
            </a:r>
          </a:p>
          <a:p>
            <a:r>
              <a:rPr lang="en-GB" sz="1200" b="0" i="0" kern="1200" dirty="0">
                <a:solidFill>
                  <a:schemeClr val="tx1"/>
                </a:solidFill>
                <a:effectLst/>
                <a:latin typeface="+mn-lt"/>
                <a:ea typeface="+mn-ea"/>
                <a:cs typeface="+mn-cs"/>
              </a:rPr>
              <a:t>The primary database sends data changes to the read replica, which then applies them. This process is asynchronous, meaning the primary doesn't wait for the replica to apply changes before completing its own operation. </a:t>
            </a:r>
          </a:p>
          <a:p>
            <a:r>
              <a:rPr lang="en-GB" sz="1200" b="1" i="0" kern="1200" dirty="0">
                <a:solidFill>
                  <a:schemeClr val="tx1"/>
                </a:solidFill>
                <a:effectLst/>
                <a:latin typeface="+mn-lt"/>
                <a:ea typeface="+mn-ea"/>
                <a:cs typeface="+mn-cs"/>
              </a:rPr>
              <a:t>Read-only</a:t>
            </a:r>
            <a:r>
              <a:rPr lang="en-GB" sz="1200" b="0" i="0" kern="1200" dirty="0">
                <a:solidFill>
                  <a:schemeClr val="tx1"/>
                </a:solidFill>
                <a:effectLst/>
                <a:latin typeface="+mn-lt"/>
                <a:ea typeface="+mn-ea"/>
                <a:cs typeface="+mn-cs"/>
              </a:rPr>
              <a:t>: </a:t>
            </a:r>
          </a:p>
          <a:p>
            <a:r>
              <a:rPr lang="en-GB" sz="1200" b="0" i="0" kern="1200" dirty="0">
                <a:solidFill>
                  <a:schemeClr val="tx1"/>
                </a:solidFill>
                <a:effectLst/>
                <a:latin typeface="+mn-lt"/>
                <a:ea typeface="+mn-ea"/>
                <a:cs typeface="+mn-cs"/>
              </a:rPr>
              <a:t>You cannot write data directly to a read replica. All write operations must be directed to the primary database. </a:t>
            </a:r>
          </a:p>
          <a:p>
            <a:r>
              <a:rPr lang="en-GB" sz="1200" b="1" i="0" kern="1200" dirty="0">
                <a:solidFill>
                  <a:schemeClr val="tx1"/>
                </a:solidFill>
                <a:effectLst/>
                <a:latin typeface="+mn-lt"/>
                <a:ea typeface="+mn-ea"/>
                <a:cs typeface="+mn-cs"/>
              </a:rPr>
              <a:t>Lag</a:t>
            </a:r>
            <a:r>
              <a:rPr lang="en-GB" sz="1200" b="0" i="0" kern="1200" dirty="0">
                <a:solidFill>
                  <a:schemeClr val="tx1"/>
                </a:solidFill>
                <a:effectLst/>
                <a:latin typeface="+mn-lt"/>
                <a:ea typeface="+mn-ea"/>
                <a:cs typeface="+mn-cs"/>
              </a:rPr>
              <a:t>: </a:t>
            </a:r>
          </a:p>
          <a:p>
            <a:r>
              <a:rPr lang="en-GB" sz="1200" b="0" i="0" kern="1200" dirty="0">
                <a:solidFill>
                  <a:schemeClr val="tx1"/>
                </a:solidFill>
                <a:effectLst/>
                <a:latin typeface="+mn-lt"/>
                <a:ea typeface="+mn-ea"/>
                <a:cs typeface="+mn-cs"/>
              </a:rPr>
              <a:t>Due to the asynchronous nature of the replication, there can be a lag between the primary and the replica, which is usually a few seconds but can increase depending on workload and network latency. </a:t>
            </a:r>
          </a:p>
          <a:p>
            <a:endParaRPr lang="en-GB" sz="1200" b="0" i="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83A2505E-7E22-F146-AFE1-BE3F982D5DB9}" type="slidenum">
              <a:rPr lang="en-US" smtClean="0"/>
              <a:t>8</a:t>
            </a:fld>
            <a:endParaRPr lang="en-US"/>
          </a:p>
        </p:txBody>
      </p:sp>
    </p:spTree>
    <p:extLst>
      <p:ext uri="{BB962C8B-B14F-4D97-AF65-F5344CB8AC3E}">
        <p14:creationId xmlns:p14="http://schemas.microsoft.com/office/powerpoint/2010/main" val="23641459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3A2505E-7E22-F146-AFE1-BE3F982D5DB9}" type="slidenum">
              <a:rPr lang="en-US" smtClean="0"/>
              <a:t>9</a:t>
            </a:fld>
            <a:endParaRPr lang="en-US"/>
          </a:p>
        </p:txBody>
      </p:sp>
    </p:spTree>
    <p:extLst>
      <p:ext uri="{BB962C8B-B14F-4D97-AF65-F5344CB8AC3E}">
        <p14:creationId xmlns:p14="http://schemas.microsoft.com/office/powerpoint/2010/main" val="27714390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GB"/>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10/15/25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10/15/25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GB"/>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10/15/25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dirty="0"/>
              <a:t>10/15/25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10/15/25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10/15/25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10/15/25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GB"/>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dirty="0"/>
              <a:t>10/15/25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GB"/>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10/15/25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GB"/>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10/15/25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GB"/>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10/15/25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GB"/>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10/15/25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GB"/>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10/15/25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GB"/>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10/15/25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10/15/25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GB"/>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10/15/25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GB"/>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10/15/25</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5" r:id="rId4"/>
    <p:sldLayoutId id="2147483653" r:id="rId5"/>
    <p:sldLayoutId id="2147483654" r:id="rId6"/>
    <p:sldLayoutId id="2147483655" r:id="rId7"/>
    <p:sldLayoutId id="2147483666" r:id="rId8"/>
    <p:sldLayoutId id="2147483657" r:id="rId9"/>
    <p:sldLayoutId id="2147483660" r:id="rId10"/>
    <p:sldLayoutId id="2147483661" r:id="rId11"/>
    <p:sldLayoutId id="2147483662" r:id="rId12"/>
    <p:sldLayoutId id="2147483663" r:id="rId13"/>
    <p:sldLayoutId id="2147483664" r:id="rId14"/>
    <p:sldLayoutId id="2147483667" r:id="rId15"/>
    <p:sldLayoutId id="214748365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Graph on document with pen">
            <a:extLst>
              <a:ext uri="{FF2B5EF4-FFF2-40B4-BE49-F238E27FC236}">
                <a16:creationId xmlns:a16="http://schemas.microsoft.com/office/drawing/2014/main" id="{6566BC19-2195-24F5-4395-23F4FF364434}"/>
              </a:ext>
            </a:extLst>
          </p:cNvPr>
          <p:cNvPicPr>
            <a:picLocks noChangeAspect="1"/>
          </p:cNvPicPr>
          <p:nvPr/>
        </p:nvPicPr>
        <p:blipFill>
          <a:blip r:embed="rId2"/>
          <a:srcRect l="32114" r="15376" b="-2"/>
          <a:stretch>
            <a:fillRect/>
          </a:stretch>
        </p:blipFill>
        <p:spPr>
          <a:xfrm>
            <a:off x="20" y="-1"/>
            <a:ext cx="5394940" cy="68580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2" name="Title 1">
            <a:extLst>
              <a:ext uri="{FF2B5EF4-FFF2-40B4-BE49-F238E27FC236}">
                <a16:creationId xmlns:a16="http://schemas.microsoft.com/office/drawing/2014/main" id="{F8A6AE09-4C8D-ED66-4033-E3E454B2A258}"/>
              </a:ext>
            </a:extLst>
          </p:cNvPr>
          <p:cNvSpPr>
            <a:spLocks noGrp="1"/>
          </p:cNvSpPr>
          <p:nvPr>
            <p:ph type="ctrTitle"/>
          </p:nvPr>
        </p:nvSpPr>
        <p:spPr>
          <a:xfrm>
            <a:off x="5380563" y="1678665"/>
            <a:ext cx="3887839" cy="2372168"/>
          </a:xfrm>
        </p:spPr>
        <p:txBody>
          <a:bodyPr>
            <a:normAutofit/>
          </a:bodyPr>
          <a:lstStyle/>
          <a:p>
            <a:r>
              <a:rPr lang="en-US" dirty="0"/>
              <a:t>Financial Tracker App</a:t>
            </a:r>
          </a:p>
        </p:txBody>
      </p:sp>
    </p:spTree>
    <p:extLst>
      <p:ext uri="{BB962C8B-B14F-4D97-AF65-F5344CB8AC3E}">
        <p14:creationId xmlns:p14="http://schemas.microsoft.com/office/powerpoint/2010/main" val="15271516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36B936-DD71-F4C3-EE2E-859D2EC7A093}"/>
              </a:ext>
            </a:extLst>
          </p:cNvPr>
          <p:cNvSpPr>
            <a:spLocks noGrp="1"/>
          </p:cNvSpPr>
          <p:nvPr>
            <p:ph type="title"/>
          </p:nvPr>
        </p:nvSpPr>
        <p:spPr>
          <a:xfrm>
            <a:off x="677334" y="238314"/>
            <a:ext cx="5418666" cy="626031"/>
          </a:xfrm>
        </p:spPr>
        <p:txBody>
          <a:bodyPr/>
          <a:lstStyle/>
          <a:p>
            <a:r>
              <a:rPr lang="en-US" dirty="0"/>
              <a:t>PURPOSE AND AUDIENCE</a:t>
            </a:r>
          </a:p>
        </p:txBody>
      </p:sp>
      <p:sp>
        <p:nvSpPr>
          <p:cNvPr id="4" name="Text Placeholder 3">
            <a:extLst>
              <a:ext uri="{FF2B5EF4-FFF2-40B4-BE49-F238E27FC236}">
                <a16:creationId xmlns:a16="http://schemas.microsoft.com/office/drawing/2014/main" id="{3DBB524B-B933-2DF0-CCB0-27E470C9778A}"/>
              </a:ext>
            </a:extLst>
          </p:cNvPr>
          <p:cNvSpPr>
            <a:spLocks noGrp="1"/>
          </p:cNvSpPr>
          <p:nvPr>
            <p:ph type="body" sz="half" idx="2"/>
          </p:nvPr>
        </p:nvSpPr>
        <p:spPr>
          <a:xfrm>
            <a:off x="677334" y="1019237"/>
            <a:ext cx="5797562" cy="5600449"/>
          </a:xfrm>
        </p:spPr>
        <p:txBody>
          <a:bodyPr>
            <a:normAutofit/>
          </a:bodyPr>
          <a:lstStyle/>
          <a:p>
            <a:r>
              <a:rPr lang="en-GB" dirty="0"/>
              <a:t>The </a:t>
            </a:r>
            <a:r>
              <a:rPr lang="en-GB" b="1" dirty="0"/>
              <a:t>Tracker</a:t>
            </a:r>
            <a:r>
              <a:rPr lang="en-GB" dirty="0"/>
              <a:t> web application helps individuals and organizations </a:t>
            </a:r>
            <a:r>
              <a:rPr lang="en-GB" b="1" dirty="0"/>
              <a:t>track, </a:t>
            </a:r>
            <a:r>
              <a:rPr lang="en-GB" b="1" dirty="0" err="1"/>
              <a:t>analyze</a:t>
            </a:r>
            <a:r>
              <a:rPr lang="en-GB" b="1" dirty="0"/>
              <a:t>, and optimize their charitable donations</a:t>
            </a:r>
            <a:r>
              <a:rPr lang="en-GB" dirty="0"/>
              <a:t>.</a:t>
            </a:r>
          </a:p>
          <a:p>
            <a:r>
              <a:rPr lang="en-GB" dirty="0"/>
              <a:t>It provides users with tools to manage:</a:t>
            </a:r>
          </a:p>
          <a:p>
            <a:pPr lvl="1"/>
            <a:r>
              <a:rPr lang="en-GB" dirty="0"/>
              <a:t>Donations &amp; Transactions</a:t>
            </a:r>
          </a:p>
          <a:p>
            <a:pPr lvl="1"/>
            <a:r>
              <a:rPr lang="en-GB" dirty="0"/>
              <a:t>Budgets and Wallets</a:t>
            </a:r>
          </a:p>
          <a:p>
            <a:pPr lvl="1"/>
            <a:r>
              <a:rPr lang="en-GB" dirty="0"/>
              <a:t>Fundraising Goals</a:t>
            </a:r>
          </a:p>
          <a:p>
            <a:pPr lvl="1"/>
            <a:r>
              <a:rPr lang="en-GB" dirty="0"/>
              <a:t>Category-based spending analysis</a:t>
            </a:r>
          </a:p>
          <a:p>
            <a:pPr lvl="1"/>
            <a:r>
              <a:rPr lang="en-GB" dirty="0"/>
              <a:t>Dashboard analytics and performance insights</a:t>
            </a:r>
          </a:p>
          <a:p>
            <a:pPr lvl="1"/>
            <a:endParaRPr lang="en-GB" dirty="0"/>
          </a:p>
          <a:p>
            <a:r>
              <a:rPr lang="en-GB" sz="2000" b="1" dirty="0"/>
              <a:t>Target Audience</a:t>
            </a:r>
          </a:p>
          <a:p>
            <a:r>
              <a:rPr lang="en-GB" b="1" dirty="0"/>
              <a:t>Donors</a:t>
            </a:r>
            <a:r>
              <a:rPr lang="en-GB" dirty="0"/>
              <a:t> — individuals or small NGOs who want to track contributions and see the impact of their giving.</a:t>
            </a:r>
          </a:p>
          <a:p>
            <a:r>
              <a:rPr lang="en-GB" b="1" dirty="0"/>
              <a:t>Organizations</a:t>
            </a:r>
            <a:r>
              <a:rPr lang="en-GB" dirty="0"/>
              <a:t> — nonprofits seeking transparency for donation management.</a:t>
            </a:r>
          </a:p>
          <a:p>
            <a:pPr lvl="1"/>
            <a:endParaRPr lang="en-GB" dirty="0"/>
          </a:p>
          <a:p>
            <a:pPr lvl="1"/>
            <a:endParaRPr lang="en-GB" dirty="0"/>
          </a:p>
          <a:p>
            <a:endParaRPr lang="en-US" dirty="0"/>
          </a:p>
        </p:txBody>
      </p:sp>
      <p:pic>
        <p:nvPicPr>
          <p:cNvPr id="1026" name="Picture 2" descr="Purpose-Driven Target Audience Engagement Review">
            <a:extLst>
              <a:ext uri="{FF2B5EF4-FFF2-40B4-BE49-F238E27FC236}">
                <a16:creationId xmlns:a16="http://schemas.microsoft.com/office/drawing/2014/main" id="{2FEBD3E2-ADB6-6B06-6668-C2C8280A284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902" b="11728"/>
          <a:stretch>
            <a:fillRect/>
          </a:stretch>
        </p:blipFill>
        <p:spPr bwMode="auto">
          <a:xfrm>
            <a:off x="6380766" y="1185560"/>
            <a:ext cx="5550759" cy="3962947"/>
          </a:xfrm>
          <a:prstGeom prst="rect">
            <a:avLst/>
          </a:prstGeom>
          <a:noFill/>
          <a:effectLst>
            <a:glow>
              <a:schemeClr val="accent1">
                <a:alpha val="40000"/>
              </a:schemeClr>
            </a:glow>
            <a:softEdge rad="930732"/>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89850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050" name="Picture 2" descr="Top Ten Front-end Design Tips | Toptal®">
            <a:extLst>
              <a:ext uri="{FF2B5EF4-FFF2-40B4-BE49-F238E27FC236}">
                <a16:creationId xmlns:a16="http://schemas.microsoft.com/office/drawing/2014/main" id="{BE765765-9A4A-0585-A493-AC175EB9B78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5205" r="24437" b="-1"/>
          <a:stretch>
            <a:fillRect/>
          </a:stretch>
        </p:blipFill>
        <p:spPr bwMode="auto">
          <a:xfrm>
            <a:off x="6096000" y="-1"/>
            <a:ext cx="6096000" cy="6858001"/>
          </a:xfrm>
          <a:custGeom>
            <a:avLst/>
            <a:gdLst/>
            <a:ahLst/>
            <a:cxnLst/>
            <a:rect l="l" t="t" r="r" b="b"/>
            <a:pathLst>
              <a:path w="7922146" h="6858001">
                <a:moveTo>
                  <a:pt x="379987" y="0"/>
                </a:moveTo>
                <a:lnTo>
                  <a:pt x="5304971" y="0"/>
                </a:lnTo>
                <a:lnTo>
                  <a:pt x="7065281" y="0"/>
                </a:lnTo>
                <a:lnTo>
                  <a:pt x="7397540" y="0"/>
                </a:lnTo>
                <a:lnTo>
                  <a:pt x="7397540" y="1"/>
                </a:lnTo>
                <a:lnTo>
                  <a:pt x="7922146" y="1"/>
                </a:lnTo>
                <a:lnTo>
                  <a:pt x="7922146" y="6858001"/>
                </a:lnTo>
                <a:lnTo>
                  <a:pt x="7065281" y="6858001"/>
                </a:lnTo>
                <a:lnTo>
                  <a:pt x="7065281" y="6858000"/>
                </a:lnTo>
                <a:lnTo>
                  <a:pt x="5932989" y="6858000"/>
                </a:lnTo>
                <a:lnTo>
                  <a:pt x="5932989" y="6858001"/>
                </a:lnTo>
                <a:lnTo>
                  <a:pt x="27809" y="6858001"/>
                </a:lnTo>
                <a:lnTo>
                  <a:pt x="1803228" y="4521201"/>
                </a:lnTo>
                <a:close/>
                <a:moveTo>
                  <a:pt x="0" y="0"/>
                </a:moveTo>
                <a:lnTo>
                  <a:pt x="379987" y="0"/>
                </a:lnTo>
                <a:lnTo>
                  <a:pt x="0" y="407"/>
                </a:lnTo>
                <a:close/>
              </a:path>
            </a:pathLst>
          </a:cu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B927E04F-D889-1DBD-346A-3678E223BE76}"/>
              </a:ext>
            </a:extLst>
          </p:cNvPr>
          <p:cNvSpPr>
            <a:spLocks noGrp="1"/>
          </p:cNvSpPr>
          <p:nvPr>
            <p:ph type="title"/>
          </p:nvPr>
        </p:nvSpPr>
        <p:spPr>
          <a:xfrm>
            <a:off x="677333" y="609600"/>
            <a:ext cx="5418667" cy="762000"/>
          </a:xfrm>
        </p:spPr>
        <p:txBody>
          <a:bodyPr>
            <a:normAutofit/>
          </a:bodyPr>
          <a:lstStyle/>
          <a:p>
            <a:r>
              <a:rPr lang="en-US" dirty="0"/>
              <a:t>TECHNICAL APPROACH</a:t>
            </a:r>
          </a:p>
        </p:txBody>
      </p:sp>
      <p:graphicFrame>
        <p:nvGraphicFramePr>
          <p:cNvPr id="4" name="Content Placeholder 3">
            <a:extLst>
              <a:ext uri="{FF2B5EF4-FFF2-40B4-BE49-F238E27FC236}">
                <a16:creationId xmlns:a16="http://schemas.microsoft.com/office/drawing/2014/main" id="{F467E389-4CDA-D4D6-1410-FC98DFEFA813}"/>
              </a:ext>
            </a:extLst>
          </p:cNvPr>
          <p:cNvGraphicFramePr>
            <a:graphicFrameLocks noGrp="1"/>
          </p:cNvGraphicFramePr>
          <p:nvPr>
            <p:ph idx="1"/>
            <p:extLst>
              <p:ext uri="{D42A27DB-BD31-4B8C-83A1-F6EECF244321}">
                <p14:modId xmlns:p14="http://schemas.microsoft.com/office/powerpoint/2010/main" val="3103683167"/>
              </p:ext>
            </p:extLst>
          </p:nvPr>
        </p:nvGraphicFramePr>
        <p:xfrm>
          <a:off x="677862" y="1600201"/>
          <a:ext cx="6301161" cy="4155140"/>
        </p:xfrm>
        <a:graphic>
          <a:graphicData uri="http://schemas.openxmlformats.org/drawingml/2006/table">
            <a:tbl>
              <a:tblPr/>
              <a:tblGrid>
                <a:gridCol w="2100387">
                  <a:extLst>
                    <a:ext uri="{9D8B030D-6E8A-4147-A177-3AD203B41FA5}">
                      <a16:colId xmlns:a16="http://schemas.microsoft.com/office/drawing/2014/main" val="3663243846"/>
                    </a:ext>
                  </a:extLst>
                </a:gridCol>
                <a:gridCol w="2100387">
                  <a:extLst>
                    <a:ext uri="{9D8B030D-6E8A-4147-A177-3AD203B41FA5}">
                      <a16:colId xmlns:a16="http://schemas.microsoft.com/office/drawing/2014/main" val="2991487841"/>
                    </a:ext>
                  </a:extLst>
                </a:gridCol>
                <a:gridCol w="2100387">
                  <a:extLst>
                    <a:ext uri="{9D8B030D-6E8A-4147-A177-3AD203B41FA5}">
                      <a16:colId xmlns:a16="http://schemas.microsoft.com/office/drawing/2014/main" val="139030892"/>
                    </a:ext>
                  </a:extLst>
                </a:gridCol>
              </a:tblGrid>
              <a:tr h="366116">
                <a:tc>
                  <a:txBody>
                    <a:bodyPr/>
                    <a:lstStyle/>
                    <a:p>
                      <a:pPr>
                        <a:buNone/>
                      </a:pPr>
                      <a:r>
                        <a:rPr lang="en-GB" sz="1200" dirty="0"/>
                        <a:t>LAYER</a:t>
                      </a:r>
                    </a:p>
                  </a:txBody>
                  <a:tcPr marL="61450" marR="61450" marT="30725" marB="30725" anchor="ctr">
                    <a:lnL>
                      <a:noFill/>
                    </a:lnL>
                    <a:lnR>
                      <a:noFill/>
                    </a:lnR>
                    <a:lnT>
                      <a:noFill/>
                    </a:lnT>
                    <a:lnB>
                      <a:noFill/>
                    </a:lnB>
                    <a:noFill/>
                  </a:tcPr>
                </a:tc>
                <a:tc>
                  <a:txBody>
                    <a:bodyPr/>
                    <a:lstStyle/>
                    <a:p>
                      <a:pPr>
                        <a:buNone/>
                      </a:pPr>
                      <a:r>
                        <a:rPr lang="en-GB" sz="1200" dirty="0"/>
                        <a:t>TECH STACK</a:t>
                      </a:r>
                    </a:p>
                  </a:txBody>
                  <a:tcPr marL="61450" marR="61450" marT="30725" marB="30725" anchor="ctr">
                    <a:lnL>
                      <a:noFill/>
                    </a:lnL>
                    <a:lnR>
                      <a:noFill/>
                    </a:lnR>
                    <a:lnT>
                      <a:noFill/>
                    </a:lnT>
                    <a:lnB>
                      <a:noFill/>
                    </a:lnB>
                    <a:noFill/>
                  </a:tcPr>
                </a:tc>
                <a:tc>
                  <a:txBody>
                    <a:bodyPr/>
                    <a:lstStyle/>
                    <a:p>
                      <a:pPr>
                        <a:buNone/>
                      </a:pPr>
                      <a:r>
                        <a:rPr lang="en-GB" sz="1200" dirty="0"/>
                        <a:t>PURPOSE/AIM</a:t>
                      </a:r>
                    </a:p>
                  </a:txBody>
                  <a:tcPr marL="61450" marR="61450" marT="30725" marB="30725" anchor="ctr">
                    <a:lnL>
                      <a:noFill/>
                    </a:lnL>
                    <a:lnR>
                      <a:noFill/>
                    </a:lnR>
                    <a:lnT>
                      <a:noFill/>
                    </a:lnT>
                    <a:lnB>
                      <a:noFill/>
                    </a:lnB>
                    <a:noFill/>
                  </a:tcPr>
                </a:tc>
                <a:extLst>
                  <a:ext uri="{0D108BD9-81ED-4DB2-BD59-A6C34878D82A}">
                    <a16:rowId xmlns:a16="http://schemas.microsoft.com/office/drawing/2014/main" val="212060347"/>
                  </a:ext>
                </a:extLst>
              </a:tr>
              <a:tr h="914190">
                <a:tc>
                  <a:txBody>
                    <a:bodyPr/>
                    <a:lstStyle/>
                    <a:p>
                      <a:pPr>
                        <a:buNone/>
                      </a:pPr>
                      <a:r>
                        <a:rPr lang="en-GB" sz="1200" b="1" dirty="0"/>
                        <a:t>FRONTEND</a:t>
                      </a:r>
                      <a:endParaRPr lang="en-GB" sz="1200" dirty="0"/>
                    </a:p>
                  </a:txBody>
                  <a:tcPr marL="61450" marR="61450" marT="30725" marB="30725" anchor="ctr">
                    <a:lnL>
                      <a:noFill/>
                    </a:lnL>
                    <a:lnR>
                      <a:noFill/>
                    </a:lnR>
                    <a:lnT>
                      <a:noFill/>
                    </a:lnT>
                    <a:lnB>
                      <a:noFill/>
                    </a:lnB>
                    <a:noFill/>
                  </a:tcPr>
                </a:tc>
                <a:tc>
                  <a:txBody>
                    <a:bodyPr/>
                    <a:lstStyle/>
                    <a:p>
                      <a:pPr>
                        <a:buNone/>
                      </a:pPr>
                      <a:r>
                        <a:rPr lang="en-GB" sz="1200" dirty="0"/>
                        <a:t>React + TypeScript, Redux Toolkit, Tailwind CSS, React-Bootstrap, Recharts</a:t>
                      </a:r>
                    </a:p>
                  </a:txBody>
                  <a:tcPr marL="61450" marR="61450" marT="30725" marB="30725" anchor="ctr">
                    <a:lnL>
                      <a:noFill/>
                    </a:lnL>
                    <a:lnR>
                      <a:noFill/>
                    </a:lnR>
                    <a:lnT>
                      <a:noFill/>
                    </a:lnT>
                    <a:lnB>
                      <a:noFill/>
                    </a:lnB>
                    <a:noFill/>
                  </a:tcPr>
                </a:tc>
                <a:tc>
                  <a:txBody>
                    <a:bodyPr/>
                    <a:lstStyle/>
                    <a:p>
                      <a:pPr>
                        <a:buNone/>
                      </a:pPr>
                      <a:r>
                        <a:rPr lang="en-GB" sz="1200"/>
                        <a:t>UI, state management, responsive dashboards</a:t>
                      </a:r>
                    </a:p>
                  </a:txBody>
                  <a:tcPr marL="61450" marR="61450" marT="30725" marB="30725" anchor="ctr">
                    <a:lnL>
                      <a:noFill/>
                    </a:lnL>
                    <a:lnR>
                      <a:noFill/>
                    </a:lnR>
                    <a:lnT>
                      <a:noFill/>
                    </a:lnT>
                    <a:lnB>
                      <a:noFill/>
                    </a:lnB>
                    <a:noFill/>
                  </a:tcPr>
                </a:tc>
                <a:extLst>
                  <a:ext uri="{0D108BD9-81ED-4DB2-BD59-A6C34878D82A}">
                    <a16:rowId xmlns:a16="http://schemas.microsoft.com/office/drawing/2014/main" val="2517669999"/>
                  </a:ext>
                </a:extLst>
              </a:tr>
              <a:tr h="914190">
                <a:tc>
                  <a:txBody>
                    <a:bodyPr/>
                    <a:lstStyle/>
                    <a:p>
                      <a:pPr>
                        <a:buNone/>
                      </a:pPr>
                      <a:r>
                        <a:rPr lang="en-GB" sz="1200" b="1" dirty="0"/>
                        <a:t>BACKEND</a:t>
                      </a:r>
                      <a:endParaRPr lang="en-GB" sz="1200" dirty="0"/>
                    </a:p>
                  </a:txBody>
                  <a:tcPr marL="61450" marR="61450" marT="30725" marB="30725" anchor="ctr">
                    <a:lnL>
                      <a:noFill/>
                    </a:lnL>
                    <a:lnR>
                      <a:noFill/>
                    </a:lnR>
                    <a:lnT>
                      <a:noFill/>
                    </a:lnT>
                    <a:lnB>
                      <a:noFill/>
                    </a:lnB>
                    <a:noFill/>
                  </a:tcPr>
                </a:tc>
                <a:tc>
                  <a:txBody>
                    <a:bodyPr/>
                    <a:lstStyle/>
                    <a:p>
                      <a:pPr>
                        <a:buNone/>
                      </a:pPr>
                      <a:r>
                        <a:rPr lang="en-GB" sz="1200" dirty="0"/>
                        <a:t>ASP.NET Core 8 (C#), EF Core, </a:t>
                      </a:r>
                      <a:r>
                        <a:rPr lang="en-GB" sz="1200" dirty="0" err="1"/>
                        <a:t>FluentValidation</a:t>
                      </a:r>
                      <a:r>
                        <a:rPr lang="en-GB" sz="1200" dirty="0"/>
                        <a:t>, Identity, Redis (cache)</a:t>
                      </a:r>
                    </a:p>
                  </a:txBody>
                  <a:tcPr marL="61450" marR="61450" marT="30725" marB="30725" anchor="ctr">
                    <a:lnL>
                      <a:noFill/>
                    </a:lnL>
                    <a:lnR>
                      <a:noFill/>
                    </a:lnR>
                    <a:lnT>
                      <a:noFill/>
                    </a:lnT>
                    <a:lnB>
                      <a:noFill/>
                    </a:lnB>
                    <a:noFill/>
                  </a:tcPr>
                </a:tc>
                <a:tc>
                  <a:txBody>
                    <a:bodyPr/>
                    <a:lstStyle/>
                    <a:p>
                      <a:pPr>
                        <a:buNone/>
                      </a:pPr>
                      <a:r>
                        <a:rPr lang="en-GB" sz="1200" dirty="0"/>
                        <a:t>API, business logic, authentication, analytics</a:t>
                      </a:r>
                    </a:p>
                  </a:txBody>
                  <a:tcPr marL="61450" marR="61450" marT="30725" marB="30725" anchor="ctr">
                    <a:lnL>
                      <a:noFill/>
                    </a:lnL>
                    <a:lnR>
                      <a:noFill/>
                    </a:lnR>
                    <a:lnT>
                      <a:noFill/>
                    </a:lnT>
                    <a:lnB>
                      <a:noFill/>
                    </a:lnB>
                    <a:noFill/>
                  </a:tcPr>
                </a:tc>
                <a:extLst>
                  <a:ext uri="{0D108BD9-81ED-4DB2-BD59-A6C34878D82A}">
                    <a16:rowId xmlns:a16="http://schemas.microsoft.com/office/drawing/2014/main" val="961617369"/>
                  </a:ext>
                </a:extLst>
              </a:tr>
              <a:tr h="640153">
                <a:tc>
                  <a:txBody>
                    <a:bodyPr/>
                    <a:lstStyle/>
                    <a:p>
                      <a:pPr>
                        <a:buNone/>
                      </a:pPr>
                      <a:r>
                        <a:rPr lang="en-GB" sz="1200" b="1" dirty="0"/>
                        <a:t>DATABASE</a:t>
                      </a:r>
                      <a:endParaRPr lang="en-GB" sz="1200" dirty="0"/>
                    </a:p>
                  </a:txBody>
                  <a:tcPr marL="61450" marR="61450" marT="30725" marB="30725" anchor="ctr">
                    <a:lnL>
                      <a:noFill/>
                    </a:lnL>
                    <a:lnR>
                      <a:noFill/>
                    </a:lnR>
                    <a:lnT>
                      <a:noFill/>
                    </a:lnT>
                    <a:lnB>
                      <a:noFill/>
                    </a:lnB>
                    <a:noFill/>
                  </a:tcPr>
                </a:tc>
                <a:tc>
                  <a:txBody>
                    <a:bodyPr/>
                    <a:lstStyle/>
                    <a:p>
                      <a:pPr>
                        <a:buNone/>
                      </a:pPr>
                      <a:r>
                        <a:rPr lang="en-GB" sz="1200"/>
                        <a:t>SQL Server (Azure SQL Edge ready)</a:t>
                      </a:r>
                    </a:p>
                  </a:txBody>
                  <a:tcPr marL="61450" marR="61450" marT="30725" marB="30725" anchor="ctr">
                    <a:lnL>
                      <a:noFill/>
                    </a:lnL>
                    <a:lnR>
                      <a:noFill/>
                    </a:lnR>
                    <a:lnT>
                      <a:noFill/>
                    </a:lnT>
                    <a:lnB>
                      <a:noFill/>
                    </a:lnB>
                    <a:noFill/>
                  </a:tcPr>
                </a:tc>
                <a:tc>
                  <a:txBody>
                    <a:bodyPr/>
                    <a:lstStyle/>
                    <a:p>
                      <a:pPr>
                        <a:buNone/>
                      </a:pPr>
                      <a:r>
                        <a:rPr lang="en-GB" sz="1200" dirty="0"/>
                        <a:t>Persistent data store</a:t>
                      </a:r>
                    </a:p>
                  </a:txBody>
                  <a:tcPr marL="61450" marR="61450" marT="30725" marB="30725" anchor="ctr">
                    <a:lnL>
                      <a:noFill/>
                    </a:lnL>
                    <a:lnR>
                      <a:noFill/>
                    </a:lnR>
                    <a:lnT>
                      <a:noFill/>
                    </a:lnT>
                    <a:lnB>
                      <a:noFill/>
                    </a:lnB>
                    <a:noFill/>
                  </a:tcPr>
                </a:tc>
                <a:extLst>
                  <a:ext uri="{0D108BD9-81ED-4DB2-BD59-A6C34878D82A}">
                    <a16:rowId xmlns:a16="http://schemas.microsoft.com/office/drawing/2014/main" val="2897697014"/>
                  </a:ext>
                </a:extLst>
              </a:tr>
              <a:tr h="640153">
                <a:tc>
                  <a:txBody>
                    <a:bodyPr/>
                    <a:lstStyle/>
                    <a:p>
                      <a:pPr>
                        <a:buNone/>
                      </a:pPr>
                      <a:r>
                        <a:rPr lang="en-GB" sz="1200" b="1" dirty="0"/>
                        <a:t>CACHE LAYER</a:t>
                      </a:r>
                      <a:endParaRPr lang="en-GB" sz="1200" dirty="0"/>
                    </a:p>
                  </a:txBody>
                  <a:tcPr marL="61450" marR="61450" marT="30725" marB="30725" anchor="ctr">
                    <a:lnL>
                      <a:noFill/>
                    </a:lnL>
                    <a:lnR>
                      <a:noFill/>
                    </a:lnR>
                    <a:lnT>
                      <a:noFill/>
                    </a:lnT>
                    <a:lnB>
                      <a:noFill/>
                    </a:lnB>
                    <a:noFill/>
                  </a:tcPr>
                </a:tc>
                <a:tc>
                  <a:txBody>
                    <a:bodyPr/>
                    <a:lstStyle/>
                    <a:p>
                      <a:pPr>
                        <a:buNone/>
                      </a:pPr>
                      <a:r>
                        <a:rPr lang="en-GB" sz="1200"/>
                        <a:t>Redis (via IDistributedCache)</a:t>
                      </a:r>
                    </a:p>
                  </a:txBody>
                  <a:tcPr marL="61450" marR="61450" marT="30725" marB="30725" anchor="ctr">
                    <a:lnL>
                      <a:noFill/>
                    </a:lnL>
                    <a:lnR>
                      <a:noFill/>
                    </a:lnR>
                    <a:lnT>
                      <a:noFill/>
                    </a:lnT>
                    <a:lnB>
                      <a:noFill/>
                    </a:lnB>
                    <a:noFill/>
                  </a:tcPr>
                </a:tc>
                <a:tc>
                  <a:txBody>
                    <a:bodyPr/>
                    <a:lstStyle/>
                    <a:p>
                      <a:pPr>
                        <a:buNone/>
                      </a:pPr>
                      <a:r>
                        <a:rPr lang="en-GB" sz="1200" dirty="0"/>
                        <a:t>Speed up analytics, reduce DB load</a:t>
                      </a:r>
                    </a:p>
                  </a:txBody>
                  <a:tcPr marL="61450" marR="61450" marT="30725" marB="30725" anchor="ctr">
                    <a:lnL>
                      <a:noFill/>
                    </a:lnL>
                    <a:lnR>
                      <a:noFill/>
                    </a:lnR>
                    <a:lnT>
                      <a:noFill/>
                    </a:lnT>
                    <a:lnB>
                      <a:noFill/>
                    </a:lnB>
                    <a:noFill/>
                  </a:tcPr>
                </a:tc>
                <a:extLst>
                  <a:ext uri="{0D108BD9-81ED-4DB2-BD59-A6C34878D82A}">
                    <a16:rowId xmlns:a16="http://schemas.microsoft.com/office/drawing/2014/main" val="1210380589"/>
                  </a:ext>
                </a:extLst>
              </a:tr>
              <a:tr h="680338">
                <a:tc>
                  <a:txBody>
                    <a:bodyPr/>
                    <a:lstStyle/>
                    <a:p>
                      <a:pPr>
                        <a:buNone/>
                      </a:pPr>
                      <a:r>
                        <a:rPr lang="en-GB" sz="1200" dirty="0"/>
                        <a:t>SECURITY</a:t>
                      </a:r>
                    </a:p>
                  </a:txBody>
                  <a:tcPr marL="61450" marR="61450" marT="30725" marB="30725" anchor="ctr">
                    <a:lnL>
                      <a:noFill/>
                    </a:lnL>
                    <a:lnR>
                      <a:noFill/>
                    </a:lnR>
                    <a:lnT>
                      <a:noFill/>
                    </a:lnT>
                    <a:lnB>
                      <a:noFill/>
                    </a:lnB>
                    <a:noFill/>
                  </a:tcPr>
                </a:tc>
                <a:tc>
                  <a:txBody>
                    <a:bodyPr/>
                    <a:lstStyle/>
                    <a:p>
                      <a:pPr>
                        <a:buNone/>
                      </a:pPr>
                      <a:r>
                        <a:rPr lang="en-GB" sz="1200" dirty="0"/>
                        <a:t>JWT Auth, Refresh Tokens, Bot Detection Middleware</a:t>
                      </a:r>
                    </a:p>
                  </a:txBody>
                  <a:tcPr marL="61450" marR="61450" marT="30725" marB="30725" anchor="ctr">
                    <a:lnL>
                      <a:noFill/>
                    </a:lnL>
                    <a:lnR>
                      <a:noFill/>
                    </a:lnR>
                    <a:lnT>
                      <a:noFill/>
                    </a:lnT>
                    <a:lnB>
                      <a:noFill/>
                    </a:lnB>
                    <a:noFill/>
                  </a:tcPr>
                </a:tc>
                <a:tc>
                  <a:txBody>
                    <a:bodyPr/>
                    <a:lstStyle/>
                    <a:p>
                      <a:pPr>
                        <a:buNone/>
                      </a:pPr>
                      <a:r>
                        <a:rPr lang="en-GB" sz="1200" dirty="0"/>
                        <a:t>Secure API Access</a:t>
                      </a:r>
                    </a:p>
                  </a:txBody>
                  <a:tcPr marL="61450" marR="61450" marT="30725" marB="30725" anchor="ctr">
                    <a:lnL>
                      <a:noFill/>
                    </a:lnL>
                    <a:lnR>
                      <a:noFill/>
                    </a:lnR>
                    <a:lnT>
                      <a:noFill/>
                    </a:lnT>
                    <a:lnB>
                      <a:noFill/>
                    </a:lnB>
                    <a:noFill/>
                  </a:tcPr>
                </a:tc>
                <a:extLst>
                  <a:ext uri="{0D108BD9-81ED-4DB2-BD59-A6C34878D82A}">
                    <a16:rowId xmlns:a16="http://schemas.microsoft.com/office/drawing/2014/main" val="2370094997"/>
                  </a:ext>
                </a:extLst>
              </a:tr>
            </a:tbl>
          </a:graphicData>
        </a:graphic>
      </p:graphicFrame>
      <p:cxnSp>
        <p:nvCxnSpPr>
          <p:cNvPr id="2086" name="Straight Connector 2085">
            <a:extLst>
              <a:ext uri="{FF2B5EF4-FFF2-40B4-BE49-F238E27FC236}">
                <a16:creationId xmlns:a16="http://schemas.microsoft.com/office/drawing/2014/main" id="{64FA5DFF-7FE6-4855-84E6-DFA78EE978B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057" name="Straight Connector 2056">
            <a:extLst>
              <a:ext uri="{FF2B5EF4-FFF2-40B4-BE49-F238E27FC236}">
                <a16:creationId xmlns:a16="http://schemas.microsoft.com/office/drawing/2014/main" id="{2AFD8CBA-54A3-4363-991B-B9C631BBFA7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087" name="Rectangle 23">
            <a:extLst>
              <a:ext uri="{FF2B5EF4-FFF2-40B4-BE49-F238E27FC236}">
                <a16:creationId xmlns:a16="http://schemas.microsoft.com/office/drawing/2014/main" id="{3F088236-D655-4F88-B238-E167623580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88" name="Rectangle 25">
            <a:extLst>
              <a:ext uri="{FF2B5EF4-FFF2-40B4-BE49-F238E27FC236}">
                <a16:creationId xmlns:a16="http://schemas.microsoft.com/office/drawing/2014/main" id="{3DAC0C92-199E-475C-9390-119A9B027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89" name="Isosceles Triangle 24">
            <a:extLst>
              <a:ext uri="{FF2B5EF4-FFF2-40B4-BE49-F238E27FC236}">
                <a16:creationId xmlns:a16="http://schemas.microsoft.com/office/drawing/2014/main" id="{C4CFB339-0ED8-4FE2-9EF1-6D1375B849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90" name="Rectangle 27">
            <a:extLst>
              <a:ext uri="{FF2B5EF4-FFF2-40B4-BE49-F238E27FC236}">
                <a16:creationId xmlns:a16="http://schemas.microsoft.com/office/drawing/2014/main" id="{31896C80-2069-4431-9C19-83B9137344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91" name="Rectangle 28">
            <a:extLst>
              <a:ext uri="{FF2B5EF4-FFF2-40B4-BE49-F238E27FC236}">
                <a16:creationId xmlns:a16="http://schemas.microsoft.com/office/drawing/2014/main" id="{BF120A21-0841-4823-B0C4-28AEBCEF9B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92" name="Rectangle 29">
            <a:extLst>
              <a:ext uri="{FF2B5EF4-FFF2-40B4-BE49-F238E27FC236}">
                <a16:creationId xmlns:a16="http://schemas.microsoft.com/office/drawing/2014/main" id="{DBB05BAE-BBD3-4289-899F-A6851503C6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93" name="Isosceles Triangle 29">
            <a:extLst>
              <a:ext uri="{FF2B5EF4-FFF2-40B4-BE49-F238E27FC236}">
                <a16:creationId xmlns:a16="http://schemas.microsoft.com/office/drawing/2014/main" id="{9874D11C-36F5-4BBE-A490-019A54E953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6498109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AEFE0A-CDDD-2AA1-A63A-B25A00237645}"/>
              </a:ext>
            </a:extLst>
          </p:cNvPr>
          <p:cNvSpPr>
            <a:spLocks noGrp="1"/>
          </p:cNvSpPr>
          <p:nvPr>
            <p:ph type="title"/>
          </p:nvPr>
        </p:nvSpPr>
        <p:spPr>
          <a:xfrm>
            <a:off x="479521" y="0"/>
            <a:ext cx="5616479" cy="1320800"/>
          </a:xfrm>
        </p:spPr>
        <p:txBody>
          <a:bodyPr anchor="ctr">
            <a:normAutofit/>
          </a:bodyPr>
          <a:lstStyle/>
          <a:p>
            <a:r>
              <a:rPr lang="en-US" dirty="0"/>
              <a:t>ARCHITECTURE OVERVIEW</a:t>
            </a:r>
          </a:p>
        </p:txBody>
      </p:sp>
      <p:sp>
        <p:nvSpPr>
          <p:cNvPr id="3078" name="Content Placeholder 3077">
            <a:extLst>
              <a:ext uri="{FF2B5EF4-FFF2-40B4-BE49-F238E27FC236}">
                <a16:creationId xmlns:a16="http://schemas.microsoft.com/office/drawing/2014/main" id="{FDF80B05-A019-0D4F-2F43-CCA238097FBA}"/>
              </a:ext>
            </a:extLst>
          </p:cNvPr>
          <p:cNvSpPr>
            <a:spLocks noGrp="1"/>
          </p:cNvSpPr>
          <p:nvPr>
            <p:ph idx="1"/>
          </p:nvPr>
        </p:nvSpPr>
        <p:spPr>
          <a:xfrm>
            <a:off x="685167" y="954741"/>
            <a:ext cx="3720916" cy="4766581"/>
          </a:xfrm>
          <a:effectLst>
            <a:softEdge rad="0"/>
          </a:effectLst>
        </p:spPr>
        <p:txBody>
          <a:bodyPr>
            <a:normAutofit fontScale="70000" lnSpcReduction="20000"/>
          </a:bodyPr>
          <a:lstStyle/>
          <a:p>
            <a:pPr marL="0" indent="0">
              <a:buNone/>
            </a:pPr>
            <a:endParaRPr lang="en-GB" b="1" dirty="0"/>
          </a:p>
          <a:p>
            <a:pPr marL="0" indent="0">
              <a:buNone/>
            </a:pPr>
            <a:r>
              <a:rPr lang="en-GB" b="1" dirty="0"/>
              <a:t>THE N-TIER ARCHITECTURE</a:t>
            </a:r>
          </a:p>
          <a:p>
            <a:pPr marL="0" indent="0">
              <a:buNone/>
            </a:pPr>
            <a:endParaRPr lang="en-GB" b="1" dirty="0"/>
          </a:p>
          <a:p>
            <a:pPr marL="0" indent="0">
              <a:buNone/>
            </a:pPr>
            <a:endParaRPr lang="en-GB" b="1" dirty="0"/>
          </a:p>
          <a:p>
            <a:pPr marL="0" indent="0">
              <a:buNone/>
            </a:pPr>
            <a:endParaRPr lang="en-GB" b="1" dirty="0"/>
          </a:p>
          <a:p>
            <a:pPr marL="0" indent="0">
              <a:buNone/>
            </a:pPr>
            <a:endParaRPr lang="en-GB" b="1" dirty="0"/>
          </a:p>
          <a:p>
            <a:pPr marL="0" indent="0">
              <a:buNone/>
            </a:pPr>
            <a:r>
              <a:rPr lang="en-GB" b="1" dirty="0"/>
              <a:t>Key Architectural Features</a:t>
            </a:r>
          </a:p>
          <a:p>
            <a:r>
              <a:rPr lang="en-GB" b="1" dirty="0"/>
              <a:t>Separation of Concerns</a:t>
            </a:r>
            <a:r>
              <a:rPr lang="en-GB" dirty="0"/>
              <a:t> → API, Core, DB layers completely decoupled.</a:t>
            </a:r>
          </a:p>
          <a:p>
            <a:r>
              <a:rPr lang="en-GB" b="1" dirty="0"/>
              <a:t>Centralized </a:t>
            </a:r>
            <a:r>
              <a:rPr lang="en-GB" b="1" dirty="0" err="1"/>
              <a:t>CacheInvalidationService</a:t>
            </a:r>
            <a:r>
              <a:rPr lang="en-GB" dirty="0"/>
              <a:t> for efficient analytics refresh.</a:t>
            </a:r>
          </a:p>
          <a:p>
            <a:r>
              <a:rPr lang="en-GB" b="1" dirty="0"/>
              <a:t>Dependency Injection</a:t>
            </a:r>
            <a:r>
              <a:rPr lang="en-GB" dirty="0"/>
              <a:t> ensures modular and testable services.</a:t>
            </a:r>
          </a:p>
          <a:p>
            <a:r>
              <a:rPr lang="en-GB" b="1" dirty="0" err="1"/>
              <a:t>FluentValidation</a:t>
            </a:r>
            <a:r>
              <a:rPr lang="en-GB" dirty="0"/>
              <a:t> guarantees clean DTO inputs before DB hits.</a:t>
            </a:r>
          </a:p>
          <a:p>
            <a:r>
              <a:rPr lang="en-GB" b="1" dirty="0"/>
              <a:t>JWT Auth + Refresh Tokens</a:t>
            </a:r>
            <a:r>
              <a:rPr lang="en-GB" dirty="0"/>
              <a:t> for secure session handling.</a:t>
            </a:r>
          </a:p>
          <a:p>
            <a:r>
              <a:rPr lang="en-GB" b="1" dirty="0" err="1"/>
              <a:t>BotDetectionService</a:t>
            </a:r>
            <a:r>
              <a:rPr lang="en-GB" dirty="0"/>
              <a:t> adds lightweight traffic hygiene.</a:t>
            </a:r>
          </a:p>
          <a:p>
            <a:endParaRPr lang="en-US" dirty="0"/>
          </a:p>
        </p:txBody>
      </p:sp>
      <p:pic>
        <p:nvPicPr>
          <p:cNvPr id="3074" name="Picture 2" descr="N-Tier Architecture in ASP.NET Core | by Udara Bibile | Medium">
            <a:extLst>
              <a:ext uri="{FF2B5EF4-FFF2-40B4-BE49-F238E27FC236}">
                <a16:creationId xmlns:a16="http://schemas.microsoft.com/office/drawing/2014/main" id="{2903D067-A27C-7888-91AF-C0AFB049DAC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009" t="1898" r="2355" b="2903"/>
          <a:stretch>
            <a:fillRect/>
          </a:stretch>
        </p:blipFill>
        <p:spPr bwMode="auto">
          <a:xfrm>
            <a:off x="5531006" y="1460810"/>
            <a:ext cx="4447882" cy="4673421"/>
          </a:xfrm>
          <a:prstGeom prst="rect">
            <a:avLst/>
          </a:prstGeom>
          <a:noFill/>
          <a:effectLst>
            <a:glow>
              <a:schemeClr val="accent1">
                <a:alpha val="40000"/>
              </a:schemeClr>
            </a:glow>
            <a:softEdge rad="37308"/>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244317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60101-1998-9B04-D0B9-EEB9B9B44F33}"/>
              </a:ext>
            </a:extLst>
          </p:cNvPr>
          <p:cNvSpPr>
            <a:spLocks noGrp="1"/>
          </p:cNvSpPr>
          <p:nvPr>
            <p:ph type="title"/>
          </p:nvPr>
        </p:nvSpPr>
        <p:spPr>
          <a:xfrm>
            <a:off x="677334" y="609600"/>
            <a:ext cx="8596668" cy="1320800"/>
          </a:xfrm>
        </p:spPr>
        <p:txBody>
          <a:bodyPr anchor="t">
            <a:normAutofit/>
          </a:bodyPr>
          <a:lstStyle/>
          <a:p>
            <a:r>
              <a:rPr lang="en-US" dirty="0"/>
              <a:t>DESIGN MODELS</a:t>
            </a:r>
          </a:p>
        </p:txBody>
      </p:sp>
      <p:sp>
        <p:nvSpPr>
          <p:cNvPr id="11" name="Content Placeholder 10">
            <a:extLst>
              <a:ext uri="{FF2B5EF4-FFF2-40B4-BE49-F238E27FC236}">
                <a16:creationId xmlns:a16="http://schemas.microsoft.com/office/drawing/2014/main" id="{4D9647E4-32B1-8D11-B49C-7376D609548F}"/>
              </a:ext>
            </a:extLst>
          </p:cNvPr>
          <p:cNvSpPr>
            <a:spLocks noGrp="1"/>
          </p:cNvSpPr>
          <p:nvPr>
            <p:ph idx="1"/>
          </p:nvPr>
        </p:nvSpPr>
        <p:spPr>
          <a:xfrm>
            <a:off x="7806644" y="1613123"/>
            <a:ext cx="4001534" cy="3880773"/>
          </a:xfrm>
        </p:spPr>
        <p:txBody>
          <a:bodyPr>
            <a:normAutofit fontScale="92500"/>
          </a:bodyPr>
          <a:lstStyle/>
          <a:p>
            <a:pPr marL="0" indent="0">
              <a:buNone/>
            </a:pPr>
            <a:r>
              <a:rPr lang="en-GB" b="1" dirty="0"/>
              <a:t>Relationships</a:t>
            </a:r>
          </a:p>
          <a:p>
            <a:r>
              <a:rPr lang="en-GB" b="1" dirty="0"/>
              <a:t>User -&gt; Wallets</a:t>
            </a:r>
            <a:r>
              <a:rPr lang="en-GB" dirty="0"/>
              <a:t>  -&gt;A user can have multiple wallets.</a:t>
            </a:r>
          </a:p>
          <a:p>
            <a:r>
              <a:rPr lang="en-GB" b="1" dirty="0"/>
              <a:t>Wallet -&gt; Transactions</a:t>
            </a:r>
            <a:r>
              <a:rPr lang="en-GB" dirty="0"/>
              <a:t> -&gt; Each wallet contains many transactions.</a:t>
            </a:r>
          </a:p>
          <a:p>
            <a:r>
              <a:rPr lang="en-GB" b="1" dirty="0"/>
              <a:t>User -&gt; Budgets/Goals/Categories -</a:t>
            </a:r>
            <a:r>
              <a:rPr lang="en-GB" dirty="0"/>
              <a:t>&gt; Personalized per user.</a:t>
            </a:r>
          </a:p>
          <a:p>
            <a:r>
              <a:rPr lang="en-GB" b="1" dirty="0"/>
              <a:t>Transactions</a:t>
            </a:r>
            <a:r>
              <a:rPr lang="en-GB" dirty="0"/>
              <a:t> reference </a:t>
            </a:r>
            <a:r>
              <a:rPr lang="en-GB" b="1" dirty="0"/>
              <a:t>Categories</a:t>
            </a:r>
            <a:r>
              <a:rPr lang="en-GB" dirty="0"/>
              <a:t> for classification.</a:t>
            </a:r>
          </a:p>
          <a:p>
            <a:r>
              <a:rPr lang="en-GB" b="1" dirty="0" err="1"/>
              <a:t>AnalyticsService</a:t>
            </a:r>
            <a:r>
              <a:rPr lang="en-GB" dirty="0"/>
              <a:t> aggregates across all entities for dashboard metrics.</a:t>
            </a:r>
          </a:p>
          <a:p>
            <a:endParaRPr lang="en-US" dirty="0"/>
          </a:p>
        </p:txBody>
      </p:sp>
      <p:pic>
        <p:nvPicPr>
          <p:cNvPr id="7" name="Content Placeholder 6" descr="A diagram of a data flow&#10;&#10;AI-generated content may be incorrect.">
            <a:extLst>
              <a:ext uri="{FF2B5EF4-FFF2-40B4-BE49-F238E27FC236}">
                <a16:creationId xmlns:a16="http://schemas.microsoft.com/office/drawing/2014/main" id="{F98D0401-F557-1DCB-AA9A-F060459EA69E}"/>
              </a:ext>
            </a:extLst>
          </p:cNvPr>
          <p:cNvPicPr>
            <a:picLocks noChangeAspect="1"/>
          </p:cNvPicPr>
          <p:nvPr/>
        </p:nvPicPr>
        <p:blipFill>
          <a:blip r:embed="rId2"/>
          <a:srcRect r="3" b="8520"/>
          <a:stretch>
            <a:fillRect/>
          </a:stretch>
        </p:blipFill>
        <p:spPr>
          <a:xfrm>
            <a:off x="677334" y="1257651"/>
            <a:ext cx="6683022" cy="4784042"/>
          </a:xfrm>
          <a:prstGeom prst="rect">
            <a:avLst/>
          </a:prstGeom>
        </p:spPr>
      </p:pic>
    </p:spTree>
    <p:extLst>
      <p:ext uri="{BB962C8B-B14F-4D97-AF65-F5344CB8AC3E}">
        <p14:creationId xmlns:p14="http://schemas.microsoft.com/office/powerpoint/2010/main" val="29204100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2CD7E5-2579-0A87-783F-467CC7C8AD11}"/>
              </a:ext>
            </a:extLst>
          </p:cNvPr>
          <p:cNvSpPr>
            <a:spLocks noGrp="1"/>
          </p:cNvSpPr>
          <p:nvPr>
            <p:ph type="title"/>
          </p:nvPr>
        </p:nvSpPr>
        <p:spPr/>
        <p:txBody>
          <a:bodyPr/>
          <a:lstStyle/>
          <a:p>
            <a:r>
              <a:rPr lang="en-US" dirty="0"/>
              <a:t>PERFORMANCE AND SCALABILITY </a:t>
            </a:r>
          </a:p>
        </p:txBody>
      </p:sp>
      <p:sp>
        <p:nvSpPr>
          <p:cNvPr id="3" name="Content Placeholder 2">
            <a:extLst>
              <a:ext uri="{FF2B5EF4-FFF2-40B4-BE49-F238E27FC236}">
                <a16:creationId xmlns:a16="http://schemas.microsoft.com/office/drawing/2014/main" id="{2A699561-A8E8-FA32-C395-41CE37D3D7CD}"/>
              </a:ext>
            </a:extLst>
          </p:cNvPr>
          <p:cNvSpPr>
            <a:spLocks noGrp="1"/>
          </p:cNvSpPr>
          <p:nvPr>
            <p:ph sz="half" idx="1"/>
          </p:nvPr>
        </p:nvSpPr>
        <p:spPr>
          <a:xfrm>
            <a:off x="677334" y="1488614"/>
            <a:ext cx="4184035" cy="4759786"/>
          </a:xfrm>
        </p:spPr>
        <p:txBody>
          <a:bodyPr>
            <a:normAutofit fontScale="77500" lnSpcReduction="20000"/>
          </a:bodyPr>
          <a:lstStyle/>
          <a:p>
            <a:pPr marL="0" indent="0">
              <a:buNone/>
            </a:pPr>
            <a:r>
              <a:rPr lang="en-GB" b="1" dirty="0"/>
              <a:t>Backend</a:t>
            </a:r>
          </a:p>
          <a:p>
            <a:r>
              <a:rPr lang="en-GB" dirty="0"/>
              <a:t>Implemented </a:t>
            </a:r>
            <a:r>
              <a:rPr lang="en-GB" b="1" dirty="0"/>
              <a:t>Redis caching</a:t>
            </a:r>
            <a:r>
              <a:rPr lang="en-GB" dirty="0"/>
              <a:t> for analytics queries (2× faster response times).</a:t>
            </a:r>
          </a:p>
          <a:p>
            <a:r>
              <a:rPr lang="en-GB" b="1" dirty="0"/>
              <a:t>Asynchronous EF Core calls</a:t>
            </a:r>
            <a:r>
              <a:rPr lang="en-GB" dirty="0"/>
              <a:t> for non-blocking database access.</a:t>
            </a:r>
          </a:p>
          <a:p>
            <a:r>
              <a:rPr lang="en-GB" dirty="0"/>
              <a:t>Batched DB queries to reduce round trips (especially in </a:t>
            </a:r>
            <a:r>
              <a:rPr lang="en-GB" dirty="0" err="1"/>
              <a:t>AnalyticsService</a:t>
            </a:r>
            <a:r>
              <a:rPr lang="en-GB" dirty="0"/>
              <a:t>).</a:t>
            </a:r>
          </a:p>
          <a:p>
            <a:r>
              <a:rPr lang="en-GB" dirty="0"/>
              <a:t>Pagination on transaction lists to avoid over-fetching.</a:t>
            </a:r>
          </a:p>
          <a:p>
            <a:endParaRPr lang="en-GB" dirty="0"/>
          </a:p>
          <a:p>
            <a:pPr marL="0" indent="0">
              <a:buNone/>
            </a:pPr>
            <a:r>
              <a:rPr lang="en-GB" b="1" dirty="0"/>
              <a:t>Frontend</a:t>
            </a:r>
          </a:p>
          <a:p>
            <a:r>
              <a:rPr lang="en-GB" b="1" dirty="0" err="1"/>
              <a:t>Memoized</a:t>
            </a:r>
            <a:r>
              <a:rPr lang="en-GB" b="1" dirty="0"/>
              <a:t> selectors and Redux Toolkit slices</a:t>
            </a:r>
            <a:r>
              <a:rPr lang="en-GB" dirty="0"/>
              <a:t> to prevent redundant re-renders.</a:t>
            </a:r>
          </a:p>
          <a:p>
            <a:r>
              <a:rPr lang="en-GB" b="1" dirty="0"/>
              <a:t>Code splitting and lazy loading</a:t>
            </a:r>
            <a:r>
              <a:rPr lang="en-GB" dirty="0"/>
              <a:t> for routes.</a:t>
            </a:r>
          </a:p>
          <a:p>
            <a:r>
              <a:rPr lang="en-GB" b="1" dirty="0"/>
              <a:t>Recharts</a:t>
            </a:r>
            <a:r>
              <a:rPr lang="en-GB" dirty="0"/>
              <a:t> optimized with minimal reflow for dashboard updates.</a:t>
            </a:r>
          </a:p>
          <a:p>
            <a:r>
              <a:rPr lang="en-GB" dirty="0" err="1"/>
              <a:t>FingerprintJS</a:t>
            </a:r>
            <a:r>
              <a:rPr lang="en-GB" dirty="0"/>
              <a:t> used only on load (not every API call) to minimize overhead.</a:t>
            </a:r>
          </a:p>
          <a:p>
            <a:endParaRPr lang="en-US" dirty="0"/>
          </a:p>
        </p:txBody>
      </p:sp>
      <p:pic>
        <p:nvPicPr>
          <p:cNvPr id="5" name="Picture 4">
            <a:extLst>
              <a:ext uri="{FF2B5EF4-FFF2-40B4-BE49-F238E27FC236}">
                <a16:creationId xmlns:a16="http://schemas.microsoft.com/office/drawing/2014/main" id="{C2E8B102-C29E-39D7-FF96-344C274A097E}"/>
              </a:ext>
            </a:extLst>
          </p:cNvPr>
          <p:cNvPicPr>
            <a:picLocks noChangeAspect="1"/>
          </p:cNvPicPr>
          <p:nvPr/>
        </p:nvPicPr>
        <p:blipFill>
          <a:blip r:embed="rId2"/>
          <a:stretch>
            <a:fillRect/>
          </a:stretch>
        </p:blipFill>
        <p:spPr>
          <a:xfrm>
            <a:off x="4975668" y="1488614"/>
            <a:ext cx="5206910" cy="4957342"/>
          </a:xfrm>
          <a:prstGeom prst="rect">
            <a:avLst/>
          </a:prstGeom>
          <a:effectLst>
            <a:softEdge rad="777551"/>
          </a:effectLst>
        </p:spPr>
      </p:pic>
    </p:spTree>
    <p:extLst>
      <p:ext uri="{BB962C8B-B14F-4D97-AF65-F5344CB8AC3E}">
        <p14:creationId xmlns:p14="http://schemas.microsoft.com/office/powerpoint/2010/main" val="41881186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8758FD-70B0-A2FC-EA9F-EE266A467944}"/>
              </a:ext>
            </a:extLst>
          </p:cNvPr>
          <p:cNvSpPr>
            <a:spLocks noGrp="1"/>
          </p:cNvSpPr>
          <p:nvPr>
            <p:ph type="title"/>
          </p:nvPr>
        </p:nvSpPr>
        <p:spPr>
          <a:xfrm>
            <a:off x="749936" y="325094"/>
            <a:ext cx="8524066" cy="734351"/>
          </a:xfrm>
        </p:spPr>
        <p:txBody>
          <a:bodyPr>
            <a:normAutofit/>
          </a:bodyPr>
          <a:lstStyle/>
          <a:p>
            <a:pPr>
              <a:lnSpc>
                <a:spcPct val="90000"/>
              </a:lnSpc>
            </a:pPr>
            <a:r>
              <a:rPr lang="en-US" sz="2800" dirty="0"/>
              <a:t>KEY CHALLENGES AND HOW THEY ARE ADDRESSED</a:t>
            </a:r>
          </a:p>
        </p:txBody>
      </p:sp>
      <p:graphicFrame>
        <p:nvGraphicFramePr>
          <p:cNvPr id="4" name="Content Placeholder 3">
            <a:extLst>
              <a:ext uri="{FF2B5EF4-FFF2-40B4-BE49-F238E27FC236}">
                <a16:creationId xmlns:a16="http://schemas.microsoft.com/office/drawing/2014/main" id="{86590519-78DB-21BF-CE1E-43B7ECE2E25F}"/>
              </a:ext>
            </a:extLst>
          </p:cNvPr>
          <p:cNvGraphicFramePr>
            <a:graphicFrameLocks noGrp="1"/>
          </p:cNvGraphicFramePr>
          <p:nvPr>
            <p:ph idx="1"/>
            <p:extLst>
              <p:ext uri="{D42A27DB-BD31-4B8C-83A1-F6EECF244321}">
                <p14:modId xmlns:p14="http://schemas.microsoft.com/office/powerpoint/2010/main" val="3591773498"/>
              </p:ext>
            </p:extLst>
          </p:nvPr>
        </p:nvGraphicFramePr>
        <p:xfrm>
          <a:off x="4246536" y="1255363"/>
          <a:ext cx="6307809" cy="4554175"/>
        </p:xfrm>
        <a:graphic>
          <a:graphicData uri="http://schemas.openxmlformats.org/drawingml/2006/table">
            <a:tbl>
              <a:tblPr/>
              <a:tblGrid>
                <a:gridCol w="2102603">
                  <a:extLst>
                    <a:ext uri="{9D8B030D-6E8A-4147-A177-3AD203B41FA5}">
                      <a16:colId xmlns:a16="http://schemas.microsoft.com/office/drawing/2014/main" val="2891684445"/>
                    </a:ext>
                  </a:extLst>
                </a:gridCol>
                <a:gridCol w="2102603">
                  <a:extLst>
                    <a:ext uri="{9D8B030D-6E8A-4147-A177-3AD203B41FA5}">
                      <a16:colId xmlns:a16="http://schemas.microsoft.com/office/drawing/2014/main" val="2122293446"/>
                    </a:ext>
                  </a:extLst>
                </a:gridCol>
                <a:gridCol w="2102603">
                  <a:extLst>
                    <a:ext uri="{9D8B030D-6E8A-4147-A177-3AD203B41FA5}">
                      <a16:colId xmlns:a16="http://schemas.microsoft.com/office/drawing/2014/main" val="4244558313"/>
                    </a:ext>
                  </a:extLst>
                </a:gridCol>
              </a:tblGrid>
              <a:tr h="410922">
                <a:tc>
                  <a:txBody>
                    <a:bodyPr/>
                    <a:lstStyle/>
                    <a:p>
                      <a:pPr>
                        <a:buNone/>
                      </a:pPr>
                      <a:r>
                        <a:rPr lang="en-GB" sz="900"/>
                        <a:t>Challenge</a:t>
                      </a:r>
                    </a:p>
                  </a:txBody>
                  <a:tcPr marL="43229" marR="43229" marT="21615" marB="21615" anchor="ctr">
                    <a:lnL>
                      <a:noFill/>
                    </a:lnL>
                    <a:lnR>
                      <a:noFill/>
                    </a:lnR>
                    <a:lnT>
                      <a:noFill/>
                    </a:lnT>
                    <a:lnB>
                      <a:noFill/>
                    </a:lnB>
                    <a:noFill/>
                  </a:tcPr>
                </a:tc>
                <a:tc>
                  <a:txBody>
                    <a:bodyPr/>
                    <a:lstStyle/>
                    <a:p>
                      <a:pPr>
                        <a:buNone/>
                      </a:pPr>
                      <a:r>
                        <a:rPr lang="en-GB" sz="900"/>
                        <a:t>Description</a:t>
                      </a:r>
                    </a:p>
                  </a:txBody>
                  <a:tcPr marL="43229" marR="43229" marT="21615" marB="21615" anchor="ctr">
                    <a:lnL>
                      <a:noFill/>
                    </a:lnL>
                    <a:lnR>
                      <a:noFill/>
                    </a:lnR>
                    <a:lnT>
                      <a:noFill/>
                    </a:lnT>
                    <a:lnB>
                      <a:noFill/>
                    </a:lnB>
                    <a:noFill/>
                  </a:tcPr>
                </a:tc>
                <a:tc>
                  <a:txBody>
                    <a:bodyPr/>
                    <a:lstStyle/>
                    <a:p>
                      <a:pPr>
                        <a:buNone/>
                      </a:pPr>
                      <a:r>
                        <a:rPr lang="en-GB" sz="900"/>
                        <a:t>Resolution</a:t>
                      </a:r>
                    </a:p>
                  </a:txBody>
                  <a:tcPr marL="43229" marR="43229" marT="21615" marB="21615" anchor="ctr">
                    <a:lnL>
                      <a:noFill/>
                    </a:lnL>
                    <a:lnR>
                      <a:noFill/>
                    </a:lnR>
                    <a:lnT>
                      <a:noFill/>
                    </a:lnT>
                    <a:lnB>
                      <a:noFill/>
                    </a:lnB>
                    <a:noFill/>
                  </a:tcPr>
                </a:tc>
                <a:extLst>
                  <a:ext uri="{0D108BD9-81ED-4DB2-BD59-A6C34878D82A}">
                    <a16:rowId xmlns:a16="http://schemas.microsoft.com/office/drawing/2014/main" val="2770576034"/>
                  </a:ext>
                </a:extLst>
              </a:tr>
              <a:tr h="1348259">
                <a:tc>
                  <a:txBody>
                    <a:bodyPr/>
                    <a:lstStyle/>
                    <a:p>
                      <a:pPr>
                        <a:buNone/>
                      </a:pPr>
                      <a:r>
                        <a:rPr lang="en-GB" sz="900" b="1" dirty="0"/>
                        <a:t> Caching consistency</a:t>
                      </a:r>
                      <a:endParaRPr lang="en-GB" sz="900" dirty="0"/>
                    </a:p>
                  </a:txBody>
                  <a:tcPr marL="43229" marR="43229" marT="21615" marB="21615" anchor="ctr">
                    <a:lnL>
                      <a:noFill/>
                    </a:lnL>
                    <a:lnR>
                      <a:noFill/>
                    </a:lnR>
                    <a:lnT>
                      <a:noFill/>
                    </a:lnT>
                    <a:lnB>
                      <a:noFill/>
                    </a:lnB>
                    <a:noFill/>
                  </a:tcPr>
                </a:tc>
                <a:tc>
                  <a:txBody>
                    <a:bodyPr/>
                    <a:lstStyle/>
                    <a:p>
                      <a:pPr>
                        <a:buNone/>
                      </a:pPr>
                      <a:r>
                        <a:rPr lang="en-GB" sz="900"/>
                        <a:t>Dashboard &amp; Full Analysis cache keys needed synchronization</a:t>
                      </a:r>
                    </a:p>
                  </a:txBody>
                  <a:tcPr marL="43229" marR="43229" marT="21615" marB="21615" anchor="ctr">
                    <a:lnL>
                      <a:noFill/>
                    </a:lnL>
                    <a:lnR>
                      <a:noFill/>
                    </a:lnR>
                    <a:lnT>
                      <a:noFill/>
                    </a:lnT>
                    <a:lnB>
                      <a:noFill/>
                    </a:lnB>
                    <a:noFill/>
                  </a:tcPr>
                </a:tc>
                <a:tc>
                  <a:txBody>
                    <a:bodyPr/>
                    <a:lstStyle/>
                    <a:p>
                      <a:pPr>
                        <a:buNone/>
                      </a:pPr>
                      <a:r>
                        <a:rPr lang="en-GB" sz="900" dirty="0"/>
                        <a:t>Introduced unified cache prefix + </a:t>
                      </a:r>
                      <a:r>
                        <a:rPr lang="en-GB" sz="900" dirty="0" err="1"/>
                        <a:t>CacheInvalidationService</a:t>
                      </a:r>
                      <a:endParaRPr lang="en-GB" sz="900" dirty="0"/>
                    </a:p>
                  </a:txBody>
                  <a:tcPr marL="43229" marR="43229" marT="21615" marB="21615" anchor="ctr">
                    <a:lnL>
                      <a:noFill/>
                    </a:lnL>
                    <a:lnR>
                      <a:noFill/>
                    </a:lnR>
                    <a:lnT>
                      <a:noFill/>
                    </a:lnT>
                    <a:lnB>
                      <a:noFill/>
                    </a:lnB>
                    <a:noFill/>
                  </a:tcPr>
                </a:tc>
                <a:extLst>
                  <a:ext uri="{0D108BD9-81ED-4DB2-BD59-A6C34878D82A}">
                    <a16:rowId xmlns:a16="http://schemas.microsoft.com/office/drawing/2014/main" val="2318566819"/>
                  </a:ext>
                </a:extLst>
              </a:tr>
              <a:tr h="723368">
                <a:tc>
                  <a:txBody>
                    <a:bodyPr/>
                    <a:lstStyle/>
                    <a:p>
                      <a:pPr>
                        <a:buNone/>
                      </a:pPr>
                      <a:r>
                        <a:rPr lang="en-GB" sz="900" b="1" dirty="0"/>
                        <a:t>Mixed styling frameworks</a:t>
                      </a:r>
                      <a:endParaRPr lang="en-GB" sz="900" dirty="0"/>
                    </a:p>
                  </a:txBody>
                  <a:tcPr marL="43229" marR="43229" marT="21615" marB="21615" anchor="ctr">
                    <a:lnL>
                      <a:noFill/>
                    </a:lnL>
                    <a:lnR>
                      <a:noFill/>
                    </a:lnR>
                    <a:lnT>
                      <a:noFill/>
                    </a:lnT>
                    <a:lnB>
                      <a:noFill/>
                    </a:lnB>
                    <a:noFill/>
                  </a:tcPr>
                </a:tc>
                <a:tc>
                  <a:txBody>
                    <a:bodyPr/>
                    <a:lstStyle/>
                    <a:p>
                      <a:pPr>
                        <a:buNone/>
                      </a:pPr>
                      <a:r>
                        <a:rPr lang="en-GB" sz="900"/>
                        <a:t>Tailwind &amp; Bootstrap CSS conflicts</a:t>
                      </a:r>
                    </a:p>
                  </a:txBody>
                  <a:tcPr marL="43229" marR="43229" marT="21615" marB="21615" anchor="ctr">
                    <a:lnL>
                      <a:noFill/>
                    </a:lnL>
                    <a:lnR>
                      <a:noFill/>
                    </a:lnR>
                    <a:lnT>
                      <a:noFill/>
                    </a:lnT>
                    <a:lnB>
                      <a:noFill/>
                    </a:lnB>
                    <a:noFill/>
                  </a:tcPr>
                </a:tc>
                <a:tc>
                  <a:txBody>
                    <a:bodyPr/>
                    <a:lstStyle/>
                    <a:p>
                      <a:pPr>
                        <a:buNone/>
                      </a:pPr>
                      <a:r>
                        <a:rPr lang="en-GB" sz="900"/>
                        <a:t>Scoped styles + proper load order fixes</a:t>
                      </a:r>
                    </a:p>
                  </a:txBody>
                  <a:tcPr marL="43229" marR="43229" marT="21615" marB="21615" anchor="ctr">
                    <a:lnL>
                      <a:noFill/>
                    </a:lnL>
                    <a:lnR>
                      <a:noFill/>
                    </a:lnR>
                    <a:lnT>
                      <a:noFill/>
                    </a:lnT>
                    <a:lnB>
                      <a:noFill/>
                    </a:lnB>
                    <a:noFill/>
                  </a:tcPr>
                </a:tc>
                <a:extLst>
                  <a:ext uri="{0D108BD9-81ED-4DB2-BD59-A6C34878D82A}">
                    <a16:rowId xmlns:a16="http://schemas.microsoft.com/office/drawing/2014/main" val="1652292609"/>
                  </a:ext>
                </a:extLst>
              </a:tr>
              <a:tr h="1035813">
                <a:tc>
                  <a:txBody>
                    <a:bodyPr/>
                    <a:lstStyle/>
                    <a:p>
                      <a:pPr>
                        <a:buNone/>
                      </a:pPr>
                      <a:r>
                        <a:rPr lang="en-GB" sz="900" b="1" dirty="0"/>
                        <a:t> Token refresh flow</a:t>
                      </a:r>
                      <a:endParaRPr lang="en-GB" sz="900" dirty="0"/>
                    </a:p>
                  </a:txBody>
                  <a:tcPr marL="43229" marR="43229" marT="21615" marB="21615" anchor="ctr">
                    <a:lnL>
                      <a:noFill/>
                    </a:lnL>
                    <a:lnR>
                      <a:noFill/>
                    </a:lnR>
                    <a:lnT>
                      <a:noFill/>
                    </a:lnT>
                    <a:lnB>
                      <a:noFill/>
                    </a:lnB>
                    <a:noFill/>
                  </a:tcPr>
                </a:tc>
                <a:tc>
                  <a:txBody>
                    <a:bodyPr/>
                    <a:lstStyle/>
                    <a:p>
                      <a:pPr>
                        <a:buNone/>
                      </a:pPr>
                      <a:r>
                        <a:rPr lang="en-GB" sz="900" dirty="0"/>
                        <a:t>Early invalidation caused logout loops</a:t>
                      </a:r>
                    </a:p>
                  </a:txBody>
                  <a:tcPr marL="43229" marR="43229" marT="21615" marB="21615" anchor="ctr">
                    <a:lnL>
                      <a:noFill/>
                    </a:lnL>
                    <a:lnR>
                      <a:noFill/>
                    </a:lnR>
                    <a:lnT>
                      <a:noFill/>
                    </a:lnT>
                    <a:lnB>
                      <a:noFill/>
                    </a:lnB>
                    <a:noFill/>
                  </a:tcPr>
                </a:tc>
                <a:tc>
                  <a:txBody>
                    <a:bodyPr/>
                    <a:lstStyle/>
                    <a:p>
                      <a:pPr>
                        <a:buNone/>
                      </a:pPr>
                      <a:r>
                        <a:rPr lang="en-GB" sz="900"/>
                        <a:t>Implemented token rotation &amp; refresh retries</a:t>
                      </a:r>
                    </a:p>
                  </a:txBody>
                  <a:tcPr marL="43229" marR="43229" marT="21615" marB="21615" anchor="ctr">
                    <a:lnL>
                      <a:noFill/>
                    </a:lnL>
                    <a:lnR>
                      <a:noFill/>
                    </a:lnR>
                    <a:lnT>
                      <a:noFill/>
                    </a:lnT>
                    <a:lnB>
                      <a:noFill/>
                    </a:lnB>
                    <a:noFill/>
                  </a:tcPr>
                </a:tc>
                <a:extLst>
                  <a:ext uri="{0D108BD9-81ED-4DB2-BD59-A6C34878D82A}">
                    <a16:rowId xmlns:a16="http://schemas.microsoft.com/office/drawing/2014/main" val="4164091613"/>
                  </a:ext>
                </a:extLst>
              </a:tr>
              <a:tr h="1035813">
                <a:tc>
                  <a:txBody>
                    <a:bodyPr/>
                    <a:lstStyle/>
                    <a:p>
                      <a:pPr>
                        <a:buNone/>
                      </a:pPr>
                      <a:r>
                        <a:rPr lang="en-GB" sz="900" b="1" dirty="0"/>
                        <a:t>Redis TTL tuning</a:t>
                      </a:r>
                      <a:endParaRPr lang="en-GB" sz="900" dirty="0"/>
                    </a:p>
                  </a:txBody>
                  <a:tcPr marL="43229" marR="43229" marT="21615" marB="21615" anchor="ctr">
                    <a:lnL>
                      <a:noFill/>
                    </a:lnL>
                    <a:lnR>
                      <a:noFill/>
                    </a:lnR>
                    <a:lnT>
                      <a:noFill/>
                    </a:lnT>
                    <a:lnB>
                      <a:noFill/>
                    </a:lnB>
                    <a:noFill/>
                  </a:tcPr>
                </a:tc>
                <a:tc>
                  <a:txBody>
                    <a:bodyPr/>
                    <a:lstStyle/>
                    <a:p>
                      <a:pPr>
                        <a:buNone/>
                      </a:pPr>
                      <a:r>
                        <a:rPr lang="en-GB" sz="900"/>
                        <a:t>Short TTL caused stale UI data</a:t>
                      </a:r>
                    </a:p>
                  </a:txBody>
                  <a:tcPr marL="43229" marR="43229" marT="21615" marB="21615" anchor="ctr">
                    <a:lnL>
                      <a:noFill/>
                    </a:lnL>
                    <a:lnR>
                      <a:noFill/>
                    </a:lnR>
                    <a:lnT>
                      <a:noFill/>
                    </a:lnT>
                    <a:lnB>
                      <a:noFill/>
                    </a:lnB>
                    <a:noFill/>
                  </a:tcPr>
                </a:tc>
                <a:tc>
                  <a:txBody>
                    <a:bodyPr/>
                    <a:lstStyle/>
                    <a:p>
                      <a:pPr>
                        <a:buNone/>
                      </a:pPr>
                      <a:r>
                        <a:rPr lang="en-GB" sz="900" dirty="0"/>
                        <a:t>Balanced TTL (2 min) + manual invalidation on writes</a:t>
                      </a:r>
                    </a:p>
                  </a:txBody>
                  <a:tcPr marL="43229" marR="43229" marT="21615" marB="21615" anchor="ctr">
                    <a:lnL>
                      <a:noFill/>
                    </a:lnL>
                    <a:lnR>
                      <a:noFill/>
                    </a:lnR>
                    <a:lnT>
                      <a:noFill/>
                    </a:lnT>
                    <a:lnB>
                      <a:noFill/>
                    </a:lnB>
                    <a:noFill/>
                  </a:tcPr>
                </a:tc>
                <a:extLst>
                  <a:ext uri="{0D108BD9-81ED-4DB2-BD59-A6C34878D82A}">
                    <a16:rowId xmlns:a16="http://schemas.microsoft.com/office/drawing/2014/main" val="143202103"/>
                  </a:ext>
                </a:extLst>
              </a:tr>
            </a:tbl>
          </a:graphicData>
        </a:graphic>
      </p:graphicFrame>
      <p:pic>
        <p:nvPicPr>
          <p:cNvPr id="4098" name="Picture 2" descr="Challenges in Academic Publishing - Kriyadocs - Publishing Suite">
            <a:extLst>
              <a:ext uri="{FF2B5EF4-FFF2-40B4-BE49-F238E27FC236}">
                <a16:creationId xmlns:a16="http://schemas.microsoft.com/office/drawing/2014/main" id="{EA51522B-3296-36AF-C626-7A5B061B5EB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8744" r="33889" b="1"/>
          <a:stretch>
            <a:fillRect/>
          </a:stretch>
        </p:blipFill>
        <p:spPr bwMode="auto">
          <a:xfrm>
            <a:off x="-1" y="1141732"/>
            <a:ext cx="4246516" cy="4849516"/>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a:noFill/>
          <a:extLst>
            <a:ext uri="{909E8E84-426E-40DD-AFC4-6F175D3DCCD1}">
              <a14:hiddenFill xmlns:a14="http://schemas.microsoft.com/office/drawing/2010/main">
                <a:solidFill>
                  <a:srgbClr val="FFFFFF"/>
                </a:solidFill>
              </a14:hiddenFill>
            </a:ext>
          </a:extLst>
        </p:spPr>
      </p:pic>
      <p:sp>
        <p:nvSpPr>
          <p:cNvPr id="4103" name="Isosceles Triangle 4102">
            <a:extLst>
              <a:ext uri="{FF2B5EF4-FFF2-40B4-BE49-F238E27FC236}">
                <a16:creationId xmlns:a16="http://schemas.microsoft.com/office/drawing/2014/main" id="{3BCB5F6A-9EB0-40B0-9D13-3023E9A20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13094109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A1AD99-8E25-C87F-8562-C549E5D95A6C}"/>
              </a:ext>
            </a:extLst>
          </p:cNvPr>
          <p:cNvSpPr>
            <a:spLocks noGrp="1"/>
          </p:cNvSpPr>
          <p:nvPr>
            <p:ph type="title"/>
          </p:nvPr>
        </p:nvSpPr>
        <p:spPr/>
        <p:txBody>
          <a:bodyPr/>
          <a:lstStyle/>
          <a:p>
            <a:r>
              <a:rPr lang="en-US" dirty="0"/>
              <a:t>IMPROVEMENTS AND ENHANCEMENT</a:t>
            </a:r>
          </a:p>
        </p:txBody>
      </p:sp>
      <p:sp>
        <p:nvSpPr>
          <p:cNvPr id="18" name="Content Placeholder 17">
            <a:extLst>
              <a:ext uri="{FF2B5EF4-FFF2-40B4-BE49-F238E27FC236}">
                <a16:creationId xmlns:a16="http://schemas.microsoft.com/office/drawing/2014/main" id="{1E960D5E-5A7A-CCFE-6B6C-B9710DF7F022}"/>
              </a:ext>
            </a:extLst>
          </p:cNvPr>
          <p:cNvSpPr>
            <a:spLocks noGrp="1"/>
          </p:cNvSpPr>
          <p:nvPr>
            <p:ph sz="half" idx="1"/>
          </p:nvPr>
        </p:nvSpPr>
        <p:spPr>
          <a:xfrm>
            <a:off x="7061203" y="2367628"/>
            <a:ext cx="3217332" cy="3880772"/>
          </a:xfrm>
        </p:spPr>
        <p:txBody>
          <a:bodyPr>
            <a:normAutofit lnSpcReduction="10000"/>
          </a:bodyPr>
          <a:lstStyle/>
          <a:p>
            <a:pPr marL="0" indent="0">
              <a:buNone/>
            </a:pPr>
            <a:r>
              <a:rPr lang="en-GB" b="1" dirty="0"/>
              <a:t>Functional Enhancements</a:t>
            </a:r>
          </a:p>
          <a:p>
            <a:r>
              <a:rPr lang="en-GB" dirty="0"/>
              <a:t>Add </a:t>
            </a:r>
            <a:r>
              <a:rPr lang="en-GB" b="1" dirty="0"/>
              <a:t>Recurring Donations</a:t>
            </a:r>
            <a:r>
              <a:rPr lang="en-GB" dirty="0"/>
              <a:t> and </a:t>
            </a:r>
            <a:r>
              <a:rPr lang="en-GB" b="1" dirty="0"/>
              <a:t>Charity Campaign tracking</a:t>
            </a:r>
            <a:r>
              <a:rPr lang="en-GB" dirty="0"/>
              <a:t>.</a:t>
            </a:r>
          </a:p>
          <a:p>
            <a:r>
              <a:rPr lang="en-GB" dirty="0"/>
              <a:t>Integrate </a:t>
            </a:r>
            <a:r>
              <a:rPr lang="en-GB" b="1" dirty="0"/>
              <a:t>Payment APIs</a:t>
            </a:r>
            <a:r>
              <a:rPr lang="en-GB" dirty="0"/>
              <a:t> (Stripe/PayPal) for real transactions.</a:t>
            </a:r>
          </a:p>
          <a:p>
            <a:r>
              <a:rPr lang="en-GB" dirty="0"/>
              <a:t>Add </a:t>
            </a:r>
            <a:r>
              <a:rPr lang="en-GB" b="1" dirty="0"/>
              <a:t>User Roles (Admin/Donor)</a:t>
            </a:r>
            <a:r>
              <a:rPr lang="en-GB" dirty="0"/>
              <a:t> with role-based dashboards.</a:t>
            </a:r>
          </a:p>
          <a:p>
            <a:endParaRPr lang="en-US" dirty="0"/>
          </a:p>
        </p:txBody>
      </p:sp>
      <p:sp>
        <p:nvSpPr>
          <p:cNvPr id="19" name="Content Placeholder 18">
            <a:extLst>
              <a:ext uri="{FF2B5EF4-FFF2-40B4-BE49-F238E27FC236}">
                <a16:creationId xmlns:a16="http://schemas.microsoft.com/office/drawing/2014/main" id="{75DAA03C-408E-C7BB-EE79-1E14E1E3EA95}"/>
              </a:ext>
            </a:extLst>
          </p:cNvPr>
          <p:cNvSpPr>
            <a:spLocks noGrp="1"/>
          </p:cNvSpPr>
          <p:nvPr>
            <p:ph sz="half" idx="2"/>
          </p:nvPr>
        </p:nvSpPr>
        <p:spPr>
          <a:xfrm>
            <a:off x="3532761" y="2367627"/>
            <a:ext cx="3432483" cy="3880773"/>
          </a:xfrm>
        </p:spPr>
        <p:txBody>
          <a:bodyPr>
            <a:normAutofit lnSpcReduction="10000"/>
          </a:bodyPr>
          <a:lstStyle/>
          <a:p>
            <a:pPr marL="0" indent="0">
              <a:buNone/>
            </a:pPr>
            <a:r>
              <a:rPr lang="en-GB" b="1" dirty="0"/>
              <a:t>Backend Scalability</a:t>
            </a:r>
          </a:p>
          <a:p>
            <a:r>
              <a:rPr lang="en-GB" dirty="0"/>
              <a:t>Migrate analytics processing to </a:t>
            </a:r>
            <a:r>
              <a:rPr lang="en-GB" b="1" dirty="0"/>
              <a:t>background jobs</a:t>
            </a:r>
            <a:r>
              <a:rPr lang="en-GB" dirty="0"/>
              <a:t> (</a:t>
            </a:r>
            <a:r>
              <a:rPr lang="en-GB" dirty="0" err="1"/>
              <a:t>Hangfire</a:t>
            </a:r>
            <a:r>
              <a:rPr lang="en-GB" dirty="0"/>
              <a:t>/Quartz).</a:t>
            </a:r>
          </a:p>
          <a:p>
            <a:r>
              <a:rPr lang="en-GB" dirty="0"/>
              <a:t>Introduce </a:t>
            </a:r>
            <a:r>
              <a:rPr lang="en-GB" b="1" dirty="0"/>
              <a:t>CQRS</a:t>
            </a:r>
            <a:r>
              <a:rPr lang="en-GB" dirty="0"/>
              <a:t> pattern for better query isolation.</a:t>
            </a:r>
          </a:p>
          <a:p>
            <a:r>
              <a:rPr lang="en-GB" dirty="0"/>
              <a:t>Use </a:t>
            </a:r>
            <a:r>
              <a:rPr lang="en-GB" b="1" dirty="0"/>
              <a:t>read replicas or caching tiers</a:t>
            </a:r>
            <a:r>
              <a:rPr lang="en-GB" dirty="0"/>
              <a:t> for analytics endpoints.</a:t>
            </a:r>
          </a:p>
          <a:p>
            <a:r>
              <a:rPr lang="en-GB" dirty="0"/>
              <a:t>Add </a:t>
            </a:r>
            <a:r>
              <a:rPr lang="en-GB" b="1" dirty="0"/>
              <a:t>rate limiting</a:t>
            </a:r>
            <a:r>
              <a:rPr lang="en-GB" dirty="0"/>
              <a:t> and </a:t>
            </a:r>
            <a:r>
              <a:rPr lang="en-GB" b="1" dirty="0"/>
              <a:t>health checks</a:t>
            </a:r>
            <a:r>
              <a:rPr lang="en-GB" dirty="0"/>
              <a:t> for production readiness.</a:t>
            </a:r>
          </a:p>
          <a:p>
            <a:endParaRPr lang="en-US" dirty="0"/>
          </a:p>
        </p:txBody>
      </p:sp>
      <p:sp>
        <p:nvSpPr>
          <p:cNvPr id="20" name="Content Placeholder 2">
            <a:extLst>
              <a:ext uri="{FF2B5EF4-FFF2-40B4-BE49-F238E27FC236}">
                <a16:creationId xmlns:a16="http://schemas.microsoft.com/office/drawing/2014/main" id="{2647E49E-5E51-3646-6D36-E55E22D06688}"/>
              </a:ext>
            </a:extLst>
          </p:cNvPr>
          <p:cNvSpPr txBox="1">
            <a:spLocks/>
          </p:cNvSpPr>
          <p:nvPr/>
        </p:nvSpPr>
        <p:spPr>
          <a:xfrm>
            <a:off x="840362" y="2330721"/>
            <a:ext cx="2692399" cy="3880772"/>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GB" b="1" dirty="0"/>
              <a:t>Frontend Performance</a:t>
            </a:r>
          </a:p>
          <a:p>
            <a:r>
              <a:rPr lang="en-GB" dirty="0"/>
              <a:t>Add </a:t>
            </a:r>
            <a:r>
              <a:rPr lang="en-GB" b="1" dirty="0"/>
              <a:t>Service Workers</a:t>
            </a:r>
            <a:r>
              <a:rPr lang="en-GB" dirty="0"/>
              <a:t> for offline mode.</a:t>
            </a:r>
          </a:p>
          <a:p>
            <a:r>
              <a:rPr lang="en-GB" dirty="0"/>
              <a:t>Implement </a:t>
            </a:r>
            <a:r>
              <a:rPr lang="en-GB" b="1" dirty="0"/>
              <a:t>React Query</a:t>
            </a:r>
            <a:r>
              <a:rPr lang="en-GB" dirty="0"/>
              <a:t> for smarter caching of API data.</a:t>
            </a:r>
          </a:p>
          <a:p>
            <a:r>
              <a:rPr lang="en-GB" dirty="0"/>
              <a:t>Bundle analysis + image optimization for faster load.</a:t>
            </a:r>
          </a:p>
          <a:p>
            <a:endParaRPr lang="en-US" dirty="0"/>
          </a:p>
        </p:txBody>
      </p:sp>
    </p:spTree>
    <p:extLst>
      <p:ext uri="{BB962C8B-B14F-4D97-AF65-F5344CB8AC3E}">
        <p14:creationId xmlns:p14="http://schemas.microsoft.com/office/powerpoint/2010/main" val="19818490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6151" name="Group 6150">
            <a:extLst>
              <a:ext uri="{FF2B5EF4-FFF2-40B4-BE49-F238E27FC236}">
                <a16:creationId xmlns:a16="http://schemas.microsoft.com/office/drawing/2014/main" id="{1F2B4773-3207-44CC-B7AC-892B7049821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6152" name="Straight Connector 6151">
              <a:extLst>
                <a:ext uri="{FF2B5EF4-FFF2-40B4-BE49-F238E27FC236}">
                  <a16:creationId xmlns:a16="http://schemas.microsoft.com/office/drawing/2014/main" id="{2B8267CA-A7A5-4E11-9D92-4EAC3DD3E80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6153" name="Straight Connector 6152">
              <a:extLst>
                <a:ext uri="{FF2B5EF4-FFF2-40B4-BE49-F238E27FC236}">
                  <a16:creationId xmlns:a16="http://schemas.microsoft.com/office/drawing/2014/main" id="{E83D61B5-C6B4-4A4B-85AD-FEE7A54912C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6154" name="Rectangle 23">
              <a:extLst>
                <a:ext uri="{FF2B5EF4-FFF2-40B4-BE49-F238E27FC236}">
                  <a16:creationId xmlns:a16="http://schemas.microsoft.com/office/drawing/2014/main" id="{A0B67FE4-688F-4497-8BFD-157613A697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155" name="Rectangle 25">
              <a:extLst>
                <a:ext uri="{FF2B5EF4-FFF2-40B4-BE49-F238E27FC236}">
                  <a16:creationId xmlns:a16="http://schemas.microsoft.com/office/drawing/2014/main" id="{3BF5BE1A-9BAC-4581-A82B-FD8FE31595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156" name="Isosceles Triangle 6155">
              <a:extLst>
                <a:ext uri="{FF2B5EF4-FFF2-40B4-BE49-F238E27FC236}">
                  <a16:creationId xmlns:a16="http://schemas.microsoft.com/office/drawing/2014/main" id="{971E5644-6772-414A-8199-E30BFB02A5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157" name="Rectangle 27">
              <a:extLst>
                <a:ext uri="{FF2B5EF4-FFF2-40B4-BE49-F238E27FC236}">
                  <a16:creationId xmlns:a16="http://schemas.microsoft.com/office/drawing/2014/main" id="{E8246D50-BB0C-408E-93FD-7B8D63A7F7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158" name="Rectangle 28">
              <a:extLst>
                <a:ext uri="{FF2B5EF4-FFF2-40B4-BE49-F238E27FC236}">
                  <a16:creationId xmlns:a16="http://schemas.microsoft.com/office/drawing/2014/main" id="{AFBC5D22-68C1-44FB-8181-CB84ECAA83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159" name="Rectangle 29">
              <a:extLst>
                <a:ext uri="{FF2B5EF4-FFF2-40B4-BE49-F238E27FC236}">
                  <a16:creationId xmlns:a16="http://schemas.microsoft.com/office/drawing/2014/main" id="{FB6D0FCE-FBDB-4655-A1A7-640B1E86B5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160" name="Isosceles Triangle 6159">
              <a:extLst>
                <a:ext uri="{FF2B5EF4-FFF2-40B4-BE49-F238E27FC236}">
                  <a16:creationId xmlns:a16="http://schemas.microsoft.com/office/drawing/2014/main" id="{BC8157DF-FD90-4AD6-B803-3AC0ACD8E6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161" name="Isosceles Triangle 6160">
              <a:extLst>
                <a:ext uri="{FF2B5EF4-FFF2-40B4-BE49-F238E27FC236}">
                  <a16:creationId xmlns:a16="http://schemas.microsoft.com/office/drawing/2014/main" id="{3548B067-9D63-4D21-92EF-CBC9E6338C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useBgFill="1">
        <p:nvSpPr>
          <p:cNvPr id="6163" name="Rectangle 6162">
            <a:extLst>
              <a:ext uri="{FF2B5EF4-FFF2-40B4-BE49-F238E27FC236}">
                <a16:creationId xmlns:a16="http://schemas.microsoft.com/office/drawing/2014/main" id="{A65AC7D1-EAA9-48F5-B509-60A7F50BF7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6165" name="Rectangle 6164">
            <a:extLst>
              <a:ext uri="{FF2B5EF4-FFF2-40B4-BE49-F238E27FC236}">
                <a16:creationId xmlns:a16="http://schemas.microsoft.com/office/drawing/2014/main" id="{D6320AF9-619A-4175-865B-5663E1AEF4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167" name="Straight Connector 6166">
            <a:extLst>
              <a:ext uri="{FF2B5EF4-FFF2-40B4-BE49-F238E27FC236}">
                <a16:creationId xmlns:a16="http://schemas.microsoft.com/office/drawing/2014/main" id="{063B6EC6-D752-4EE7-908B-F8F19E8C7FE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cxnSp>
      <p:cxnSp>
        <p:nvCxnSpPr>
          <p:cNvPr id="6169" name="Straight Connector 6168">
            <a:extLst>
              <a:ext uri="{FF2B5EF4-FFF2-40B4-BE49-F238E27FC236}">
                <a16:creationId xmlns:a16="http://schemas.microsoft.com/office/drawing/2014/main" id="{EFECD4E8-AD3E-4228-82A2-9461958EA94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cxnSp>
      <p:sp>
        <p:nvSpPr>
          <p:cNvPr id="6171" name="Rectangle 23">
            <a:extLst>
              <a:ext uri="{FF2B5EF4-FFF2-40B4-BE49-F238E27FC236}">
                <a16:creationId xmlns:a16="http://schemas.microsoft.com/office/drawing/2014/main" id="{7E018740-5C2B-4A41-AC1A-7E68D1EC1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173" name="Rectangle 25">
            <a:extLst>
              <a:ext uri="{FF2B5EF4-FFF2-40B4-BE49-F238E27FC236}">
                <a16:creationId xmlns:a16="http://schemas.microsoft.com/office/drawing/2014/main" id="{166F75A4-C475-4941-8EE2-B80A06A2C1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175" name="Isosceles Triangle 6174">
            <a:extLst>
              <a:ext uri="{FF2B5EF4-FFF2-40B4-BE49-F238E27FC236}">
                <a16:creationId xmlns:a16="http://schemas.microsoft.com/office/drawing/2014/main" id="{A032553A-72E8-4B0D-8405-FF9771C9AF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33425"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177" name="Rectangle 27">
            <a:extLst>
              <a:ext uri="{FF2B5EF4-FFF2-40B4-BE49-F238E27FC236}">
                <a16:creationId xmlns:a16="http://schemas.microsoft.com/office/drawing/2014/main" id="{765800AC-C3B9-498E-87BC-29FAE4C76B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179" name="Isosceles Triangle 6178">
            <a:extLst>
              <a:ext uri="{FF2B5EF4-FFF2-40B4-BE49-F238E27FC236}">
                <a16:creationId xmlns:a16="http://schemas.microsoft.com/office/drawing/2014/main" id="{1F9D6ACB-2FF4-49F9-978A-E0D5327FC6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72758"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181" name="Freeform: Shape 6180">
            <a:extLst>
              <a:ext uri="{FF2B5EF4-FFF2-40B4-BE49-F238E27FC236}">
                <a16:creationId xmlns:a16="http://schemas.microsoft.com/office/drawing/2014/main" id="{A5EC319D-0FEA-4B95-A3EA-01E35672C9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75330023-3069-F224-6DDD-96C043996DF2}"/>
              </a:ext>
            </a:extLst>
          </p:cNvPr>
          <p:cNvSpPr>
            <a:spLocks noGrp="1"/>
          </p:cNvSpPr>
          <p:nvPr>
            <p:ph type="title"/>
          </p:nvPr>
        </p:nvSpPr>
        <p:spPr>
          <a:xfrm>
            <a:off x="7181723" y="609600"/>
            <a:ext cx="4512989" cy="2227730"/>
          </a:xfrm>
        </p:spPr>
        <p:txBody>
          <a:bodyPr vert="horz" lIns="91440" tIns="45720" rIns="91440" bIns="45720" rtlCol="0" anchor="ctr">
            <a:normAutofit/>
          </a:bodyPr>
          <a:lstStyle/>
          <a:p>
            <a:r>
              <a:rPr lang="en-US">
                <a:solidFill>
                  <a:srgbClr val="FFFFFF"/>
                </a:solidFill>
              </a:rPr>
              <a:t>Summary</a:t>
            </a:r>
          </a:p>
        </p:txBody>
      </p:sp>
      <p:pic>
        <p:nvPicPr>
          <p:cNvPr id="6146" name="Picture 2" descr="How to write a summary for a business document">
            <a:extLst>
              <a:ext uri="{FF2B5EF4-FFF2-40B4-BE49-F238E27FC236}">
                <a16:creationId xmlns:a16="http://schemas.microsoft.com/office/drawing/2014/main" id="{3DED81CD-CEC1-F426-CCE0-107276D37E34}"/>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tretch>
            <a:fillRect/>
          </a:stretch>
        </p:blipFill>
        <p:spPr bwMode="auto">
          <a:xfrm>
            <a:off x="757251" y="2277849"/>
            <a:ext cx="3856774" cy="2391200"/>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A317A7EA-B36B-0D58-07D6-0E26451AE0F9}"/>
              </a:ext>
            </a:extLst>
          </p:cNvPr>
          <p:cNvSpPr>
            <a:spLocks noGrp="1"/>
          </p:cNvSpPr>
          <p:nvPr>
            <p:ph sz="half" idx="1"/>
          </p:nvPr>
        </p:nvSpPr>
        <p:spPr>
          <a:xfrm>
            <a:off x="7181725" y="2837329"/>
            <a:ext cx="4512988" cy="3317938"/>
          </a:xfrm>
        </p:spPr>
        <p:txBody>
          <a:bodyPr vert="horz" lIns="91440" tIns="45720" rIns="91440" bIns="45720" rtlCol="0" anchor="t">
            <a:normAutofit/>
          </a:bodyPr>
          <a:lstStyle/>
          <a:p>
            <a:r>
              <a:rPr lang="en-US" b="1">
                <a:solidFill>
                  <a:srgbClr val="FFFFFF"/>
                </a:solidFill>
              </a:rPr>
              <a:t>The Tracker</a:t>
            </a:r>
            <a:r>
              <a:rPr lang="en-US">
                <a:solidFill>
                  <a:srgbClr val="FFFFFF"/>
                </a:solidFill>
              </a:rPr>
              <a:t> demonstrates:</a:t>
            </a:r>
          </a:p>
          <a:p>
            <a:r>
              <a:rPr lang="en-US">
                <a:solidFill>
                  <a:srgbClr val="FFFFFF"/>
                </a:solidFill>
              </a:rPr>
              <a:t>A full-stack, production-grade donation management system.</a:t>
            </a:r>
          </a:p>
          <a:p>
            <a:r>
              <a:rPr lang="en-US">
                <a:solidFill>
                  <a:srgbClr val="FFFFFF"/>
                </a:solidFill>
              </a:rPr>
              <a:t>Secure JWT-based authentication and session management.</a:t>
            </a:r>
          </a:p>
          <a:p>
            <a:r>
              <a:rPr lang="en-US">
                <a:solidFill>
                  <a:srgbClr val="FFFFFF"/>
                </a:solidFill>
              </a:rPr>
              <a:t>Caching strategy that significantly boosts performance.</a:t>
            </a:r>
          </a:p>
          <a:p>
            <a:r>
              <a:rPr lang="en-US">
                <a:solidFill>
                  <a:srgbClr val="FFFFFF"/>
                </a:solidFill>
              </a:rPr>
              <a:t>Clean, modular architecture designed for scalability and maintainability.</a:t>
            </a:r>
          </a:p>
          <a:p>
            <a:endParaRPr lang="en-US">
              <a:solidFill>
                <a:srgbClr val="FFFFFF"/>
              </a:solidFill>
            </a:endParaRPr>
          </a:p>
        </p:txBody>
      </p:sp>
    </p:spTree>
    <p:extLst>
      <p:ext uri="{BB962C8B-B14F-4D97-AF65-F5344CB8AC3E}">
        <p14:creationId xmlns:p14="http://schemas.microsoft.com/office/powerpoint/2010/main" val="6309283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7177" name="Group 7176">
            <a:extLst>
              <a:ext uri="{FF2B5EF4-FFF2-40B4-BE49-F238E27FC236}">
                <a16:creationId xmlns:a16="http://schemas.microsoft.com/office/drawing/2014/main" id="{609316A9-990D-4EC3-A671-70EE5C1493A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7178" name="Straight Connector 7177">
              <a:extLst>
                <a:ext uri="{FF2B5EF4-FFF2-40B4-BE49-F238E27FC236}">
                  <a16:creationId xmlns:a16="http://schemas.microsoft.com/office/drawing/2014/main" id="{9B0C6109-9159-49CA-AD7A-F9035539DB7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7179" name="Straight Connector 7178">
              <a:extLst>
                <a:ext uri="{FF2B5EF4-FFF2-40B4-BE49-F238E27FC236}">
                  <a16:creationId xmlns:a16="http://schemas.microsoft.com/office/drawing/2014/main" id="{686F14F5-308C-4EB6-87AB-05DE9501B1A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7180" name="Rectangle 23">
              <a:extLst>
                <a:ext uri="{FF2B5EF4-FFF2-40B4-BE49-F238E27FC236}">
                  <a16:creationId xmlns:a16="http://schemas.microsoft.com/office/drawing/2014/main" id="{BA032363-A188-47C5-9D59-9B788809DC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7181" name="Rectangle 25">
              <a:extLst>
                <a:ext uri="{FF2B5EF4-FFF2-40B4-BE49-F238E27FC236}">
                  <a16:creationId xmlns:a16="http://schemas.microsoft.com/office/drawing/2014/main" id="{2C4077DF-6BB9-4069-AD28-6B1664EBB0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7182" name="Isosceles Triangle 7181">
              <a:extLst>
                <a:ext uri="{FF2B5EF4-FFF2-40B4-BE49-F238E27FC236}">
                  <a16:creationId xmlns:a16="http://schemas.microsoft.com/office/drawing/2014/main" id="{1D2B8B50-3419-41ED-9A9F-3CF9EEBBD3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7183" name="Rectangle 27">
              <a:extLst>
                <a:ext uri="{FF2B5EF4-FFF2-40B4-BE49-F238E27FC236}">
                  <a16:creationId xmlns:a16="http://schemas.microsoft.com/office/drawing/2014/main" id="{5C640498-2E73-4FA2-BEB6-C3596A458C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7184" name="Rectangle 28">
              <a:extLst>
                <a:ext uri="{FF2B5EF4-FFF2-40B4-BE49-F238E27FC236}">
                  <a16:creationId xmlns:a16="http://schemas.microsoft.com/office/drawing/2014/main" id="{3240EEFC-4112-4C39-A816-C815774F6D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7185" name="Rectangle 29">
              <a:extLst>
                <a:ext uri="{FF2B5EF4-FFF2-40B4-BE49-F238E27FC236}">
                  <a16:creationId xmlns:a16="http://schemas.microsoft.com/office/drawing/2014/main" id="{ADF362B0-03EA-4800-9FAA-9F128587E4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7186" name="Isosceles Triangle 7185">
              <a:extLst>
                <a:ext uri="{FF2B5EF4-FFF2-40B4-BE49-F238E27FC236}">
                  <a16:creationId xmlns:a16="http://schemas.microsoft.com/office/drawing/2014/main" id="{0BA84559-2F4C-4795-9246-4C563F942D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7187" name="Isosceles Triangle 7186">
              <a:extLst>
                <a:ext uri="{FF2B5EF4-FFF2-40B4-BE49-F238E27FC236}">
                  <a16:creationId xmlns:a16="http://schemas.microsoft.com/office/drawing/2014/main" id="{FA77A1AA-CA47-4A91-A0A1-0A8CE31A98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useBgFill="1">
        <p:nvSpPr>
          <p:cNvPr id="7189" name="Rectangle 7188">
            <a:extLst>
              <a:ext uri="{FF2B5EF4-FFF2-40B4-BE49-F238E27FC236}">
                <a16:creationId xmlns:a16="http://schemas.microsoft.com/office/drawing/2014/main" id="{39178BE9-53D8-441A-8691-0ED3B464BC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172" name="Picture 4" descr="10 Tips for Software Demos - Visitor Queue">
            <a:extLst>
              <a:ext uri="{FF2B5EF4-FFF2-40B4-BE49-F238E27FC236}">
                <a16:creationId xmlns:a16="http://schemas.microsoft.com/office/drawing/2014/main" id="{9386466B-F661-9B0F-2331-E52CAE6C5A6A}"/>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tretch>
            <a:fillRect/>
          </a:stretch>
        </p:blipFill>
        <p:spPr bwMode="auto">
          <a:xfrm>
            <a:off x="1843277" y="643466"/>
            <a:ext cx="8505445" cy="55710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01304265"/>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Facet</Template>
  <TotalTime>258</TotalTime>
  <Words>2142</Words>
  <Application>Microsoft Macintosh PowerPoint</Application>
  <PresentationFormat>Widescreen</PresentationFormat>
  <Paragraphs>329</Paragraphs>
  <Slides>10</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Aptos</vt:lpstr>
      <vt:lpstr>Arial</vt:lpstr>
      <vt:lpstr>Trebuchet MS</vt:lpstr>
      <vt:lpstr>Wingdings 3</vt:lpstr>
      <vt:lpstr>Facet</vt:lpstr>
      <vt:lpstr>Financial Tracker App</vt:lpstr>
      <vt:lpstr>PURPOSE AND AUDIENCE</vt:lpstr>
      <vt:lpstr>TECHNICAL APPROACH</vt:lpstr>
      <vt:lpstr>ARCHITECTURE OVERVIEW</vt:lpstr>
      <vt:lpstr>DESIGN MODELS</vt:lpstr>
      <vt:lpstr>PERFORMANCE AND SCALABILITY </vt:lpstr>
      <vt:lpstr>KEY CHALLENGES AND HOW THEY ARE ADDRESSED</vt:lpstr>
      <vt:lpstr>IMPROVEMENTS AND ENHANCEMENT</vt:lpstr>
      <vt:lpstr>Summary</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TAMUNOTONYE DANIEL</dc:creator>
  <cp:lastModifiedBy>TAMUNOTONYE DANIEL</cp:lastModifiedBy>
  <cp:revision>1</cp:revision>
  <dcterms:created xsi:type="dcterms:W3CDTF">2025-10-15T16:04:29Z</dcterms:created>
  <dcterms:modified xsi:type="dcterms:W3CDTF">2025-10-15T20:22:36Z</dcterms:modified>
</cp:coreProperties>
</file>